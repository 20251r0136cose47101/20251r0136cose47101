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6" r:id="rId21"/>
    <p:sldId id="277" r:id="rId22"/>
    <p:sldId id="278" r:id="rId23"/>
    <p:sldId id="279" r:id="rId24"/>
    <p:sldId id="283" r:id="rId25"/>
    <p:sldId id="281" r:id="rId26"/>
  </p:sldIdLst>
  <p:sldSz cx="12192000" cy="6858000"/>
  <p:notesSz cx="6799263" cy="9929813"/>
  <p:embeddedFontLst>
    <p:embeddedFont>
      <p:font typeface="Pretendard ExtraBold" panose="02000903000000020004" pitchFamily="2" charset="-127"/>
      <p:bold r:id="rId28"/>
    </p:embeddedFont>
    <p:embeddedFont>
      <p:font typeface="Pretendard Light" panose="02000403000000020004" pitchFamily="2" charset="-127"/>
      <p:regular r:id="rId29"/>
    </p:embeddedFont>
    <p:embeddedFont>
      <p:font typeface="Pretendard Medium" panose="02000603000000020004" pitchFamily="2" charset="-127"/>
      <p:regular r:id="rId30"/>
    </p:embeddedFont>
    <p:embeddedFont>
      <p:font typeface="Pretendard SemiBold" panose="02000703000000020004" pitchFamily="2" charset="-127"/>
      <p:bold r:id="rId31"/>
    </p:embeddedFont>
    <p:embeddedFont>
      <p:font typeface="Malgun Gothic" panose="020B0503020000020004" pitchFamily="50" charset="-127"/>
      <p:regular r:id="rId32"/>
      <p:bold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4" roundtripDataSignature="AMtx7mgPPekiz+UMw5l6WVTsWP+Fyugse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6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5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3.fntdata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46347" cy="4982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51342" y="0"/>
            <a:ext cx="2946347" cy="4982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422275" y="1241425"/>
            <a:ext cx="5954713" cy="33512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79927" y="4778722"/>
            <a:ext cx="5439410" cy="3909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431600"/>
            <a:ext cx="2946347" cy="4982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51342" y="9431600"/>
            <a:ext cx="2946347" cy="4982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4713" cy="33512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1:notes"/>
          <p:cNvSpPr txBox="1">
            <a:spLocks noGrp="1"/>
          </p:cNvSpPr>
          <p:nvPr>
            <p:ph type="body" idx="1"/>
          </p:nvPr>
        </p:nvSpPr>
        <p:spPr>
          <a:xfrm>
            <a:off x="679927" y="4778722"/>
            <a:ext cx="5439410" cy="3909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1:notes"/>
          <p:cNvSpPr txBox="1">
            <a:spLocks noGrp="1"/>
          </p:cNvSpPr>
          <p:nvPr>
            <p:ph type="sldNum" idx="12"/>
          </p:nvPr>
        </p:nvSpPr>
        <p:spPr>
          <a:xfrm>
            <a:off x="3851342" y="9431600"/>
            <a:ext cx="2946347" cy="4982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4713" cy="33512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7" name="Google Shape;97;p2:notes"/>
          <p:cNvSpPr txBox="1">
            <a:spLocks noGrp="1"/>
          </p:cNvSpPr>
          <p:nvPr>
            <p:ph type="body" idx="1"/>
          </p:nvPr>
        </p:nvSpPr>
        <p:spPr>
          <a:xfrm>
            <a:off x="679927" y="4778722"/>
            <a:ext cx="5439410" cy="3909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2:notes"/>
          <p:cNvSpPr txBox="1">
            <a:spLocks noGrp="1"/>
          </p:cNvSpPr>
          <p:nvPr>
            <p:ph type="sldNum" idx="12"/>
          </p:nvPr>
        </p:nvSpPr>
        <p:spPr>
          <a:xfrm>
            <a:off x="3851342" y="9431600"/>
            <a:ext cx="2946347" cy="4982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4713" cy="33512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5" name="Google Shape;105;p3:notes"/>
          <p:cNvSpPr txBox="1">
            <a:spLocks noGrp="1"/>
          </p:cNvSpPr>
          <p:nvPr>
            <p:ph type="body" idx="1"/>
          </p:nvPr>
        </p:nvSpPr>
        <p:spPr>
          <a:xfrm>
            <a:off x="679927" y="4778722"/>
            <a:ext cx="5439300" cy="390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3:notes"/>
          <p:cNvSpPr txBox="1">
            <a:spLocks noGrp="1"/>
          </p:cNvSpPr>
          <p:nvPr>
            <p:ph type="sldNum" idx="12"/>
          </p:nvPr>
        </p:nvSpPr>
        <p:spPr>
          <a:xfrm>
            <a:off x="3851342" y="9431600"/>
            <a:ext cx="2946300" cy="49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4713" cy="33512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2" name="Google Shape;112;p8:notes"/>
          <p:cNvSpPr txBox="1">
            <a:spLocks noGrp="1"/>
          </p:cNvSpPr>
          <p:nvPr>
            <p:ph type="body" idx="1"/>
          </p:nvPr>
        </p:nvSpPr>
        <p:spPr>
          <a:xfrm>
            <a:off x="679927" y="4778722"/>
            <a:ext cx="5439300" cy="390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8:notes"/>
          <p:cNvSpPr txBox="1">
            <a:spLocks noGrp="1"/>
          </p:cNvSpPr>
          <p:nvPr>
            <p:ph type="sldNum" idx="12"/>
          </p:nvPr>
        </p:nvSpPr>
        <p:spPr>
          <a:xfrm>
            <a:off x="3851342" y="9431600"/>
            <a:ext cx="2946300" cy="49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4713" cy="33512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4" name="Google Shape;124;p9:notes"/>
          <p:cNvSpPr txBox="1">
            <a:spLocks noGrp="1"/>
          </p:cNvSpPr>
          <p:nvPr>
            <p:ph type="body" idx="1"/>
          </p:nvPr>
        </p:nvSpPr>
        <p:spPr>
          <a:xfrm>
            <a:off x="679927" y="4778722"/>
            <a:ext cx="5439300" cy="390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9:notes"/>
          <p:cNvSpPr txBox="1">
            <a:spLocks noGrp="1"/>
          </p:cNvSpPr>
          <p:nvPr>
            <p:ph type="sldNum" idx="12"/>
          </p:nvPr>
        </p:nvSpPr>
        <p:spPr>
          <a:xfrm>
            <a:off x="3851342" y="9431600"/>
            <a:ext cx="2946300" cy="49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4713" cy="33512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6" name="Google Shape;136;p10:notes"/>
          <p:cNvSpPr txBox="1">
            <a:spLocks noGrp="1"/>
          </p:cNvSpPr>
          <p:nvPr>
            <p:ph type="body" idx="1"/>
          </p:nvPr>
        </p:nvSpPr>
        <p:spPr>
          <a:xfrm>
            <a:off x="679927" y="4778722"/>
            <a:ext cx="5439410" cy="3909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10:notes"/>
          <p:cNvSpPr txBox="1">
            <a:spLocks noGrp="1"/>
          </p:cNvSpPr>
          <p:nvPr>
            <p:ph type="sldNum" idx="12"/>
          </p:nvPr>
        </p:nvSpPr>
        <p:spPr>
          <a:xfrm>
            <a:off x="3851342" y="9431600"/>
            <a:ext cx="2946347" cy="4982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4713" cy="33512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5" name="Google Shape;145;p7:notes"/>
          <p:cNvSpPr txBox="1">
            <a:spLocks noGrp="1"/>
          </p:cNvSpPr>
          <p:nvPr>
            <p:ph type="body" idx="1"/>
          </p:nvPr>
        </p:nvSpPr>
        <p:spPr>
          <a:xfrm>
            <a:off x="679927" y="4778722"/>
            <a:ext cx="5439300" cy="390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7:notes"/>
          <p:cNvSpPr txBox="1">
            <a:spLocks noGrp="1"/>
          </p:cNvSpPr>
          <p:nvPr>
            <p:ph type="sldNum" idx="12"/>
          </p:nvPr>
        </p:nvSpPr>
        <p:spPr>
          <a:xfrm>
            <a:off x="3851342" y="9431600"/>
            <a:ext cx="2946300" cy="49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3:notes"/>
          <p:cNvSpPr txBox="1">
            <a:spLocks noGrp="1"/>
          </p:cNvSpPr>
          <p:nvPr>
            <p:ph type="body" idx="1"/>
          </p:nvPr>
        </p:nvSpPr>
        <p:spPr>
          <a:xfrm>
            <a:off x="679927" y="4778722"/>
            <a:ext cx="5439410" cy="3909864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4713" cy="33512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4713" cy="33512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6" name="Google Shape;216;p17:notes"/>
          <p:cNvSpPr txBox="1">
            <a:spLocks noGrp="1"/>
          </p:cNvSpPr>
          <p:nvPr>
            <p:ph type="body" idx="1"/>
          </p:nvPr>
        </p:nvSpPr>
        <p:spPr>
          <a:xfrm>
            <a:off x="679927" y="4778722"/>
            <a:ext cx="5439410" cy="3909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17:notes"/>
          <p:cNvSpPr txBox="1">
            <a:spLocks noGrp="1"/>
          </p:cNvSpPr>
          <p:nvPr>
            <p:ph type="sldNum" idx="12"/>
          </p:nvPr>
        </p:nvSpPr>
        <p:spPr>
          <a:xfrm>
            <a:off x="3851342" y="9431600"/>
            <a:ext cx="2946347" cy="4982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4713" cy="33512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4" name="Google Shape;224;p11:notes"/>
          <p:cNvSpPr txBox="1">
            <a:spLocks noGrp="1"/>
          </p:cNvSpPr>
          <p:nvPr>
            <p:ph type="body" idx="1"/>
          </p:nvPr>
        </p:nvSpPr>
        <p:spPr>
          <a:xfrm>
            <a:off x="679927" y="4778722"/>
            <a:ext cx="5439410" cy="3909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11:notes"/>
          <p:cNvSpPr txBox="1">
            <a:spLocks noGrp="1"/>
          </p:cNvSpPr>
          <p:nvPr>
            <p:ph type="sldNum" idx="12"/>
          </p:nvPr>
        </p:nvSpPr>
        <p:spPr>
          <a:xfrm>
            <a:off x="3851342" y="9431600"/>
            <a:ext cx="2946347" cy="4982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8:notes"/>
          <p:cNvSpPr txBox="1">
            <a:spLocks noGrp="1"/>
          </p:cNvSpPr>
          <p:nvPr>
            <p:ph type="body" idx="1"/>
          </p:nvPr>
        </p:nvSpPr>
        <p:spPr>
          <a:xfrm>
            <a:off x="679927" y="4778722"/>
            <a:ext cx="5439410" cy="3909864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4713" cy="33512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60302aa50d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4713" cy="33512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3" name="Google Shape;293;g360302aa50d_2_0:notes"/>
          <p:cNvSpPr txBox="1">
            <a:spLocks noGrp="1"/>
          </p:cNvSpPr>
          <p:nvPr>
            <p:ph type="body" idx="1"/>
          </p:nvPr>
        </p:nvSpPr>
        <p:spPr>
          <a:xfrm>
            <a:off x="679927" y="4778722"/>
            <a:ext cx="5439300" cy="390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optical flow: 두 프레임의 픽셀 움직임을 계산해 평균값을 구함(전체적인 변화량)</a:t>
            </a:r>
            <a:br>
              <a:rPr lang="en-US"/>
            </a:br>
            <a:r>
              <a:rPr lang="en-US"/>
              <a:t>landmark displacement: 눈, 코, 입 등의 얼굴 랜드마크를 추출하고유클리드 거리값을 이용하여 위치 변화량을 구함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표정 변화가 미세할 때는 랜드마크 이동보다는 픽셀 하나하나의 움직임이 더 유의미</a:t>
            </a:r>
            <a:endParaRPr/>
          </a:p>
        </p:txBody>
      </p:sp>
      <p:sp>
        <p:nvSpPr>
          <p:cNvPr id="294" name="Google Shape;294;g360302aa50d_2_0:notes"/>
          <p:cNvSpPr txBox="1">
            <a:spLocks noGrp="1"/>
          </p:cNvSpPr>
          <p:nvPr>
            <p:ph type="sldNum" idx="12"/>
          </p:nvPr>
        </p:nvSpPr>
        <p:spPr>
          <a:xfrm>
            <a:off x="3851342" y="9431600"/>
            <a:ext cx="2946300" cy="49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5e623adf87_2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4713" cy="33512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3" name="Google Shape;303;g35e623adf87_2_6:notes"/>
          <p:cNvSpPr txBox="1">
            <a:spLocks noGrp="1"/>
          </p:cNvSpPr>
          <p:nvPr>
            <p:ph type="body" idx="1"/>
          </p:nvPr>
        </p:nvSpPr>
        <p:spPr>
          <a:xfrm>
            <a:off x="679927" y="4778722"/>
            <a:ext cx="5439300" cy="390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optical flow: 두 </a:t>
            </a:r>
            <a:r>
              <a:rPr lang="en-US" dirty="0" err="1"/>
              <a:t>프레임의</a:t>
            </a:r>
            <a:r>
              <a:rPr lang="en-US" dirty="0"/>
              <a:t> </a:t>
            </a:r>
            <a:r>
              <a:rPr lang="en-US" dirty="0" err="1"/>
              <a:t>픽셀</a:t>
            </a:r>
            <a:r>
              <a:rPr lang="en-US" dirty="0"/>
              <a:t> </a:t>
            </a:r>
            <a:r>
              <a:rPr lang="en-US" dirty="0" err="1"/>
              <a:t>움직임을</a:t>
            </a:r>
            <a:r>
              <a:rPr lang="en-US" dirty="0"/>
              <a:t> </a:t>
            </a:r>
            <a:r>
              <a:rPr lang="en-US" dirty="0" err="1"/>
              <a:t>계산해</a:t>
            </a:r>
            <a:r>
              <a:rPr lang="en-US" dirty="0"/>
              <a:t> </a:t>
            </a:r>
            <a:r>
              <a:rPr lang="en-US" dirty="0" err="1"/>
              <a:t>평균값을</a:t>
            </a:r>
            <a:r>
              <a:rPr lang="en-US" dirty="0"/>
              <a:t> </a:t>
            </a:r>
            <a:r>
              <a:rPr lang="en-US" dirty="0" err="1"/>
              <a:t>구함</a:t>
            </a:r>
            <a:r>
              <a:rPr lang="en-US" dirty="0"/>
              <a:t>(</a:t>
            </a:r>
            <a:r>
              <a:rPr lang="en-US" dirty="0" err="1"/>
              <a:t>전체적인</a:t>
            </a:r>
            <a:r>
              <a:rPr lang="en-US" dirty="0"/>
              <a:t> </a:t>
            </a:r>
            <a:r>
              <a:rPr lang="en-US" dirty="0" err="1"/>
              <a:t>변화량</a:t>
            </a:r>
            <a:r>
              <a:rPr lang="en-US" dirty="0"/>
              <a:t>)</a:t>
            </a:r>
            <a:br>
              <a:rPr lang="en-US" dirty="0"/>
            </a:br>
            <a:r>
              <a:rPr lang="en-US" dirty="0"/>
              <a:t>landmark displacement: 눈, 코, 입 </a:t>
            </a:r>
            <a:r>
              <a:rPr lang="en-US" dirty="0" err="1"/>
              <a:t>등의</a:t>
            </a:r>
            <a:r>
              <a:rPr lang="en-US" dirty="0"/>
              <a:t> </a:t>
            </a:r>
            <a:r>
              <a:rPr lang="en-US" dirty="0" err="1"/>
              <a:t>얼굴</a:t>
            </a:r>
            <a:r>
              <a:rPr lang="en-US" dirty="0"/>
              <a:t> </a:t>
            </a:r>
            <a:r>
              <a:rPr lang="en-US" dirty="0" err="1"/>
              <a:t>랜드마크를</a:t>
            </a:r>
            <a:r>
              <a:rPr lang="en-US" dirty="0"/>
              <a:t> </a:t>
            </a:r>
            <a:r>
              <a:rPr lang="en-US" dirty="0" err="1"/>
              <a:t>추출하고유클리드</a:t>
            </a:r>
            <a:r>
              <a:rPr lang="en-US" dirty="0"/>
              <a:t> </a:t>
            </a:r>
            <a:r>
              <a:rPr lang="en-US" dirty="0" err="1"/>
              <a:t>거리값을</a:t>
            </a:r>
            <a:r>
              <a:rPr lang="en-US" dirty="0"/>
              <a:t> </a:t>
            </a:r>
            <a:r>
              <a:rPr lang="en-US" dirty="0" err="1"/>
              <a:t>이용하여</a:t>
            </a:r>
            <a:r>
              <a:rPr lang="en-US" dirty="0"/>
              <a:t> </a:t>
            </a:r>
            <a:r>
              <a:rPr lang="en-US" dirty="0" err="1"/>
              <a:t>위치</a:t>
            </a:r>
            <a:r>
              <a:rPr lang="en-US" dirty="0"/>
              <a:t> </a:t>
            </a:r>
            <a:r>
              <a:rPr lang="en-US" dirty="0" err="1"/>
              <a:t>변화량을</a:t>
            </a:r>
            <a:r>
              <a:rPr lang="en-US" dirty="0"/>
              <a:t> </a:t>
            </a:r>
            <a:r>
              <a:rPr lang="en-US" dirty="0" err="1"/>
              <a:t>구함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표정</a:t>
            </a:r>
            <a:r>
              <a:rPr lang="en-US" dirty="0"/>
              <a:t> </a:t>
            </a:r>
            <a:r>
              <a:rPr lang="en-US" dirty="0" err="1"/>
              <a:t>변화가</a:t>
            </a:r>
            <a:r>
              <a:rPr lang="en-US" dirty="0"/>
              <a:t> </a:t>
            </a:r>
            <a:r>
              <a:rPr lang="en-US" dirty="0" err="1"/>
              <a:t>미세할</a:t>
            </a:r>
            <a:r>
              <a:rPr lang="en-US" dirty="0"/>
              <a:t> </a:t>
            </a:r>
            <a:r>
              <a:rPr lang="en-US" dirty="0" err="1"/>
              <a:t>때는</a:t>
            </a:r>
            <a:r>
              <a:rPr lang="en-US" dirty="0"/>
              <a:t> </a:t>
            </a:r>
            <a:r>
              <a:rPr lang="en-US" dirty="0" err="1"/>
              <a:t>랜드마크</a:t>
            </a:r>
            <a:r>
              <a:rPr lang="en-US" dirty="0"/>
              <a:t> </a:t>
            </a:r>
            <a:r>
              <a:rPr lang="en-US" dirty="0" err="1"/>
              <a:t>이동보다는</a:t>
            </a:r>
            <a:r>
              <a:rPr lang="en-US" dirty="0"/>
              <a:t> </a:t>
            </a:r>
            <a:r>
              <a:rPr lang="en-US" dirty="0" err="1"/>
              <a:t>픽셀</a:t>
            </a:r>
            <a:r>
              <a:rPr lang="en-US" dirty="0"/>
              <a:t> </a:t>
            </a:r>
            <a:r>
              <a:rPr lang="en-US" dirty="0" err="1"/>
              <a:t>하나하나의</a:t>
            </a:r>
            <a:r>
              <a:rPr lang="en-US" dirty="0"/>
              <a:t> </a:t>
            </a:r>
            <a:r>
              <a:rPr lang="en-US" dirty="0" err="1"/>
              <a:t>움직임이</a:t>
            </a:r>
            <a:r>
              <a:rPr lang="en-US" dirty="0"/>
              <a:t> 더 </a:t>
            </a:r>
            <a:r>
              <a:rPr lang="en-US" dirty="0" err="1"/>
              <a:t>유의미</a:t>
            </a:r>
            <a:endParaRPr dirty="0"/>
          </a:p>
        </p:txBody>
      </p:sp>
      <p:sp>
        <p:nvSpPr>
          <p:cNvPr id="304" name="Google Shape;304;g35e623adf87_2_6:notes"/>
          <p:cNvSpPr txBox="1">
            <a:spLocks noGrp="1"/>
          </p:cNvSpPr>
          <p:nvPr>
            <p:ph type="sldNum" idx="12"/>
          </p:nvPr>
        </p:nvSpPr>
        <p:spPr>
          <a:xfrm>
            <a:off x="3851342" y="9431600"/>
            <a:ext cx="2946300" cy="49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5fdbe5dcb6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4713" cy="33512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8" name="Google Shape;318;g35fdbe5dcb6_0_27:notes"/>
          <p:cNvSpPr txBox="1">
            <a:spLocks noGrp="1"/>
          </p:cNvSpPr>
          <p:nvPr>
            <p:ph type="body" idx="1"/>
          </p:nvPr>
        </p:nvSpPr>
        <p:spPr>
          <a:xfrm>
            <a:off x="679927" y="4778722"/>
            <a:ext cx="5439300" cy="390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libreface로 facial landmark 못찾을 정도로 구린 데이터는 걸렀다</a:t>
            </a:r>
            <a:endParaRPr/>
          </a:p>
        </p:txBody>
      </p:sp>
      <p:sp>
        <p:nvSpPr>
          <p:cNvPr id="319" name="Google Shape;319;g35fdbe5dcb6_0_27:notes"/>
          <p:cNvSpPr txBox="1">
            <a:spLocks noGrp="1"/>
          </p:cNvSpPr>
          <p:nvPr>
            <p:ph type="sldNum" idx="12"/>
          </p:nvPr>
        </p:nvSpPr>
        <p:spPr>
          <a:xfrm>
            <a:off x="3851342" y="9431600"/>
            <a:ext cx="2946300" cy="49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5fdbe5dcb6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4713" cy="33512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9" name="Google Shape;329;g35fdbe5dcb6_0_3:notes"/>
          <p:cNvSpPr txBox="1">
            <a:spLocks noGrp="1"/>
          </p:cNvSpPr>
          <p:nvPr>
            <p:ph type="body" idx="1"/>
          </p:nvPr>
        </p:nvSpPr>
        <p:spPr>
          <a:xfrm>
            <a:off x="679927" y="4778722"/>
            <a:ext cx="5439300" cy="390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0" name="Google Shape;330;g35fdbe5dcb6_0_3:notes"/>
          <p:cNvSpPr txBox="1">
            <a:spLocks noGrp="1"/>
          </p:cNvSpPr>
          <p:nvPr>
            <p:ph type="sldNum" idx="12"/>
          </p:nvPr>
        </p:nvSpPr>
        <p:spPr>
          <a:xfrm>
            <a:off x="3851342" y="9431600"/>
            <a:ext cx="2946300" cy="49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5fdbe5dcb6_1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4713" cy="33512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5fdbe5dcb6_1_20:notes"/>
          <p:cNvSpPr txBox="1">
            <a:spLocks noGrp="1"/>
          </p:cNvSpPr>
          <p:nvPr>
            <p:ph type="body" idx="1"/>
          </p:nvPr>
        </p:nvSpPr>
        <p:spPr>
          <a:xfrm>
            <a:off x="679927" y="4778722"/>
            <a:ext cx="5439300" cy="390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0" name="Google Shape;340;g35fdbe5dcb6_1_20:notes"/>
          <p:cNvSpPr txBox="1">
            <a:spLocks noGrp="1"/>
          </p:cNvSpPr>
          <p:nvPr>
            <p:ph type="sldNum" idx="12"/>
          </p:nvPr>
        </p:nvSpPr>
        <p:spPr>
          <a:xfrm>
            <a:off x="3851342" y="9431600"/>
            <a:ext cx="2946300" cy="49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35fdbe5dcb6_1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4713" cy="33512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8" name="Google Shape;368;g35fdbe5dcb6_1_64:notes"/>
          <p:cNvSpPr txBox="1">
            <a:spLocks noGrp="1"/>
          </p:cNvSpPr>
          <p:nvPr>
            <p:ph type="body" idx="1"/>
          </p:nvPr>
        </p:nvSpPr>
        <p:spPr>
          <a:xfrm>
            <a:off x="679927" y="4778722"/>
            <a:ext cx="5439300" cy="390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9" name="Google Shape;369;g35fdbe5dcb6_1_64:notes"/>
          <p:cNvSpPr txBox="1">
            <a:spLocks noGrp="1"/>
          </p:cNvSpPr>
          <p:nvPr>
            <p:ph type="sldNum" idx="12"/>
          </p:nvPr>
        </p:nvSpPr>
        <p:spPr>
          <a:xfrm>
            <a:off x="3851342" y="9431600"/>
            <a:ext cx="2946300" cy="49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35fdbe5dcb6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4713" cy="33512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8" name="Google Shape;378;g35fdbe5dcb6_1_0:notes"/>
          <p:cNvSpPr txBox="1">
            <a:spLocks noGrp="1"/>
          </p:cNvSpPr>
          <p:nvPr>
            <p:ph type="body" idx="1"/>
          </p:nvPr>
        </p:nvSpPr>
        <p:spPr>
          <a:xfrm>
            <a:off x="679927" y="4778722"/>
            <a:ext cx="5439300" cy="390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9" name="Google Shape;379;g35fdbe5dcb6_1_0:notes"/>
          <p:cNvSpPr txBox="1">
            <a:spLocks noGrp="1"/>
          </p:cNvSpPr>
          <p:nvPr>
            <p:ph type="sldNum" idx="12"/>
          </p:nvPr>
        </p:nvSpPr>
        <p:spPr>
          <a:xfrm>
            <a:off x="3851342" y="9431600"/>
            <a:ext cx="2946300" cy="49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3617606bfdd_4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4713" cy="33512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9" name="Google Shape;399;g3617606bfdd_4_6:notes"/>
          <p:cNvSpPr txBox="1">
            <a:spLocks noGrp="1"/>
          </p:cNvSpPr>
          <p:nvPr>
            <p:ph type="body" idx="1"/>
          </p:nvPr>
        </p:nvSpPr>
        <p:spPr>
          <a:xfrm>
            <a:off x="679927" y="4778722"/>
            <a:ext cx="5439300" cy="390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0" name="Google Shape;400;g3617606bfdd_4_6:notes"/>
          <p:cNvSpPr txBox="1">
            <a:spLocks noGrp="1"/>
          </p:cNvSpPr>
          <p:nvPr>
            <p:ph type="sldNum" idx="12"/>
          </p:nvPr>
        </p:nvSpPr>
        <p:spPr>
          <a:xfrm>
            <a:off x="3851342" y="9431600"/>
            <a:ext cx="2946300" cy="49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4713" cy="33512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3" name="Google Shape;423;p19:notes"/>
          <p:cNvSpPr txBox="1">
            <a:spLocks noGrp="1"/>
          </p:cNvSpPr>
          <p:nvPr>
            <p:ph type="body" idx="1"/>
          </p:nvPr>
        </p:nvSpPr>
        <p:spPr>
          <a:xfrm>
            <a:off x="679927" y="4778722"/>
            <a:ext cx="5439410" cy="3909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4" name="Google Shape;424;p19:notes"/>
          <p:cNvSpPr txBox="1">
            <a:spLocks noGrp="1"/>
          </p:cNvSpPr>
          <p:nvPr>
            <p:ph type="sldNum" idx="12"/>
          </p:nvPr>
        </p:nvSpPr>
        <p:spPr>
          <a:xfrm>
            <a:off x="3851342" y="9431600"/>
            <a:ext cx="2946347" cy="4982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g35fdbe5dcb6_3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4713" cy="33512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0" name="Google Shape;430;g35fdbe5dcb6_3_6:notes"/>
          <p:cNvSpPr txBox="1">
            <a:spLocks noGrp="1"/>
          </p:cNvSpPr>
          <p:nvPr>
            <p:ph type="body" idx="1"/>
          </p:nvPr>
        </p:nvSpPr>
        <p:spPr>
          <a:xfrm>
            <a:off x="679927" y="4778722"/>
            <a:ext cx="5439300" cy="390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1" name="Google Shape;431;g35fdbe5dcb6_3_6:notes"/>
          <p:cNvSpPr txBox="1">
            <a:spLocks noGrp="1"/>
          </p:cNvSpPr>
          <p:nvPr>
            <p:ph type="sldNum" idx="12"/>
          </p:nvPr>
        </p:nvSpPr>
        <p:spPr>
          <a:xfrm>
            <a:off x="3851342" y="9431600"/>
            <a:ext cx="2946300" cy="49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g35fdbe5dcb6_3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4713" cy="33512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9" name="Google Shape;439;g35fdbe5dcb6_3_21:notes"/>
          <p:cNvSpPr txBox="1">
            <a:spLocks noGrp="1"/>
          </p:cNvSpPr>
          <p:nvPr>
            <p:ph type="body" idx="1"/>
          </p:nvPr>
        </p:nvSpPr>
        <p:spPr>
          <a:xfrm>
            <a:off x="679927" y="4778722"/>
            <a:ext cx="5439300" cy="390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en-US" dirty="0"/>
          </a:p>
        </p:txBody>
      </p:sp>
      <p:sp>
        <p:nvSpPr>
          <p:cNvPr id="440" name="Google Shape;440;g35fdbe5dcb6_3_21:notes"/>
          <p:cNvSpPr txBox="1">
            <a:spLocks noGrp="1"/>
          </p:cNvSpPr>
          <p:nvPr>
            <p:ph type="sldNum" idx="12"/>
          </p:nvPr>
        </p:nvSpPr>
        <p:spPr>
          <a:xfrm>
            <a:off x="3851342" y="9431600"/>
            <a:ext cx="2946300" cy="49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3617606bfdd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4713" cy="33512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9" name="Google Shape;449;g3617606bfdd_2_0:notes"/>
          <p:cNvSpPr txBox="1">
            <a:spLocks noGrp="1"/>
          </p:cNvSpPr>
          <p:nvPr>
            <p:ph type="body" idx="1"/>
          </p:nvPr>
        </p:nvSpPr>
        <p:spPr>
          <a:xfrm>
            <a:off x="679927" y="4778722"/>
            <a:ext cx="5439300" cy="390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ROC curve</a:t>
            </a:r>
            <a:r>
              <a:rPr lang="ko-KR" altLang="en-US" dirty="0"/>
              <a:t>의 아래 넓이인 </a:t>
            </a:r>
            <a:r>
              <a:rPr lang="en-US" altLang="ko-KR" dirty="0"/>
              <a:t>AUC score</a:t>
            </a:r>
            <a:r>
              <a:rPr lang="ko-KR" altLang="en-US" dirty="0"/>
              <a:t>는 모델의 전체적인 정확도를 </a:t>
            </a:r>
            <a:r>
              <a:rPr lang="ko-KR" altLang="en-US" dirty="0" err="1"/>
              <a:t>정량화한</a:t>
            </a:r>
            <a:r>
              <a:rPr lang="ko-KR" altLang="en-US" dirty="0"/>
              <a:t> 것</a:t>
            </a:r>
            <a:endParaRPr dirty="0"/>
          </a:p>
        </p:txBody>
      </p:sp>
      <p:sp>
        <p:nvSpPr>
          <p:cNvPr id="450" name="Google Shape;450;g3617606bfdd_2_0:notes"/>
          <p:cNvSpPr txBox="1">
            <a:spLocks noGrp="1"/>
          </p:cNvSpPr>
          <p:nvPr>
            <p:ph type="sldNum" idx="12"/>
          </p:nvPr>
        </p:nvSpPr>
        <p:spPr>
          <a:xfrm>
            <a:off x="3851342" y="9431600"/>
            <a:ext cx="2946300" cy="49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id="{74021340-B4D3-50BF-6F69-FA1876D920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>
            <a:extLst>
              <a:ext uri="{FF2B5EF4-FFF2-40B4-BE49-F238E27FC236}">
                <a16:creationId xmlns:a16="http://schemas.microsoft.com/office/drawing/2014/main" id="{53F0550D-0430-6A6D-FE88-1AE9C873509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4713" cy="33512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1:notes">
            <a:extLst>
              <a:ext uri="{FF2B5EF4-FFF2-40B4-BE49-F238E27FC236}">
                <a16:creationId xmlns:a16="http://schemas.microsoft.com/office/drawing/2014/main" id="{05B3FF95-FF45-2790-242F-D49772DD6FD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927" y="4778722"/>
            <a:ext cx="5439410" cy="3909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1:notes">
            <a:extLst>
              <a:ext uri="{FF2B5EF4-FFF2-40B4-BE49-F238E27FC236}">
                <a16:creationId xmlns:a16="http://schemas.microsoft.com/office/drawing/2014/main" id="{35DE91E6-90C6-259D-E84B-21B7D20AD4E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51342" y="9431600"/>
            <a:ext cx="2946347" cy="4982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2883638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4713" cy="33512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9" name="Google Shape;469;p21:notes"/>
          <p:cNvSpPr txBox="1">
            <a:spLocks noGrp="1"/>
          </p:cNvSpPr>
          <p:nvPr>
            <p:ph type="body" idx="1"/>
          </p:nvPr>
        </p:nvSpPr>
        <p:spPr>
          <a:xfrm>
            <a:off x="679927" y="4778722"/>
            <a:ext cx="5439410" cy="3909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0" name="Google Shape;470;p21:notes"/>
          <p:cNvSpPr txBox="1">
            <a:spLocks noGrp="1"/>
          </p:cNvSpPr>
          <p:nvPr>
            <p:ph type="sldNum" idx="12"/>
          </p:nvPr>
        </p:nvSpPr>
        <p:spPr>
          <a:xfrm>
            <a:off x="3851342" y="9431600"/>
            <a:ext cx="2946347" cy="4982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4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4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6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6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27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8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8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28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28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28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31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31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그림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2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32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33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3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3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4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34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3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3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3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2" name="Google Shape;12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3" name="Google Shape;13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4" name="Google Shape;14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9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4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hyperlink" Target="https://openreview.net/pdf?id=mHYkcQzdae" TargetMode="External"/><Relationship Id="rId3" Type="http://schemas.openxmlformats.org/officeDocument/2006/relationships/hyperlink" Target="https://en.wikipedia.org/wiki/Microexpression" TargetMode="External"/><Relationship Id="rId7" Type="http://schemas.openxmlformats.org/officeDocument/2006/relationships/hyperlink" Target="https://paperswithcode.com/task/micro-expression-recognition" TargetMode="Externa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paperswithcode.com/task/facial-expression-recognition" TargetMode="External"/><Relationship Id="rId11" Type="http://schemas.openxmlformats.org/officeDocument/2006/relationships/hyperlink" Target="https://arxiv.org/abs/2308.10713" TargetMode="External"/><Relationship Id="rId5" Type="http://schemas.openxmlformats.org/officeDocument/2006/relationships/hyperlink" Target="https://www.kaggle.com/search?q=Micro-expression+in%3Adatasets" TargetMode="External"/><Relationship Id="rId10" Type="http://schemas.openxmlformats.org/officeDocument/2006/relationships/hyperlink" Target="https://github.com/ihp-lab/LibreFace/tree/main/AU_Detection" TargetMode="External"/><Relationship Id="rId4" Type="http://schemas.openxmlformats.org/officeDocument/2006/relationships/hyperlink" Target="https://www.kaggle.com/search?q=FER+in%3Adatasets" TargetMode="External"/><Relationship Id="rId9" Type="http://schemas.openxmlformats.org/officeDocument/2006/relationships/hyperlink" Target="https://ai.google.dev/edge/mediapipe/solutions/vision/face_landmarker?hl=ko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lang="en-US" dirty="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Arial"/>
              </a:rPr>
              <a:t>Lie Detection</a:t>
            </a:r>
            <a:br>
              <a:rPr lang="en-US" dirty="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Arial"/>
              </a:rPr>
            </a:br>
            <a:r>
              <a:rPr lang="en-US" dirty="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Arial"/>
              </a:rPr>
              <a:t>via Micro Expression</a:t>
            </a:r>
            <a:endParaRPr dirty="0"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  <a:sym typeface="Arial"/>
            </a:endParaRPr>
          </a:p>
        </p:txBody>
      </p:sp>
      <p:sp>
        <p:nvSpPr>
          <p:cNvPr id="90" name="Google Shape;90;p1"/>
          <p:cNvSpPr txBox="1">
            <a:spLocks noGrp="1"/>
          </p:cNvSpPr>
          <p:nvPr>
            <p:ph type="subTitle" idx="1"/>
          </p:nvPr>
        </p:nvSpPr>
        <p:spPr>
          <a:xfrm>
            <a:off x="1472600" y="3602013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 sz="1600" dirty="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  <a:sym typeface="Arial"/>
              </a:rPr>
              <a:t>ISOO</a:t>
            </a:r>
            <a:endParaRPr dirty="0"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cxnSp>
        <p:nvCxnSpPr>
          <p:cNvPr id="91" name="Google Shape;91;p1"/>
          <p:cNvCxnSpPr/>
          <p:nvPr/>
        </p:nvCxnSpPr>
        <p:spPr>
          <a:xfrm>
            <a:off x="1524000" y="3509963"/>
            <a:ext cx="9144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92" name="Google Shape;92;p1"/>
          <p:cNvSpPr txBox="1"/>
          <p:nvPr/>
        </p:nvSpPr>
        <p:spPr>
          <a:xfrm>
            <a:off x="1444050" y="3602037"/>
            <a:ext cx="9978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chemeClr val="dk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  <a:sym typeface="Arial"/>
              </a:rPr>
              <a:t>2025.0</a:t>
            </a:r>
            <a:r>
              <a:rPr lang="en-US" sz="1100">
                <a:solidFill>
                  <a:schemeClr val="dk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6</a:t>
            </a:r>
            <a:r>
              <a:rPr lang="en-US" sz="1100" b="0" i="0" u="none" strike="noStrike" cap="none">
                <a:solidFill>
                  <a:schemeClr val="dk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  <a:sym typeface="Arial"/>
              </a:rPr>
              <a:t>.06</a:t>
            </a:r>
            <a:endParaRPr sz="1100" b="0" i="0" u="none" strike="noStrike" cap="none">
              <a:solidFill>
                <a:schemeClr val="dk1"/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  <a:sym typeface="Arial"/>
            </a:endParaRPr>
          </a:p>
        </p:txBody>
      </p:sp>
      <p:cxnSp>
        <p:nvCxnSpPr>
          <p:cNvPr id="93" name="Google Shape;93;p1"/>
          <p:cNvCxnSpPr/>
          <p:nvPr/>
        </p:nvCxnSpPr>
        <p:spPr>
          <a:xfrm>
            <a:off x="0" y="6676341"/>
            <a:ext cx="10129101" cy="0"/>
          </a:xfrm>
          <a:prstGeom prst="straightConnector1">
            <a:avLst/>
          </a:prstGeom>
          <a:noFill/>
          <a:ln w="19050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94" name="Google Shape;94;p1"/>
          <p:cNvSpPr txBox="1"/>
          <p:nvPr/>
        </p:nvSpPr>
        <p:spPr>
          <a:xfrm>
            <a:off x="8234300" y="3917425"/>
            <a:ext cx="23823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 err="1">
                <a:solidFill>
                  <a:schemeClr val="dk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  <a:sym typeface="Malgun Gothic"/>
              </a:rPr>
              <a:t>김준하</a:t>
            </a:r>
            <a:r>
              <a:rPr lang="en-US" sz="1000" dirty="0">
                <a:solidFill>
                  <a:schemeClr val="dk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  <a:sym typeface="Malgun Gothic"/>
              </a:rPr>
              <a:t>, </a:t>
            </a:r>
            <a:r>
              <a:rPr lang="en-US" sz="1000" dirty="0" err="1">
                <a:solidFill>
                  <a:schemeClr val="dk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  <a:sym typeface="Malgun Gothic"/>
              </a:rPr>
              <a:t>노윤헌</a:t>
            </a:r>
            <a:r>
              <a:rPr lang="en-US" sz="1000" dirty="0">
                <a:solidFill>
                  <a:schemeClr val="dk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  <a:sym typeface="Malgun Gothic"/>
              </a:rPr>
              <a:t>, </a:t>
            </a:r>
            <a:r>
              <a:rPr lang="en-US" sz="1000" dirty="0" err="1">
                <a:solidFill>
                  <a:schemeClr val="dk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  <a:sym typeface="Malgun Gothic"/>
              </a:rPr>
              <a:t>윤지현</a:t>
            </a:r>
            <a:r>
              <a:rPr lang="en-US" sz="1000" dirty="0">
                <a:solidFill>
                  <a:schemeClr val="dk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  <a:sym typeface="Malgun Gothic"/>
              </a:rPr>
              <a:t>, </a:t>
            </a:r>
            <a:r>
              <a:rPr lang="en-US" sz="1000" dirty="0" err="1">
                <a:solidFill>
                  <a:schemeClr val="dk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  <a:sym typeface="Malgun Gothic"/>
              </a:rPr>
              <a:t>조해나</a:t>
            </a:r>
            <a:r>
              <a:rPr lang="en-US" sz="1000" dirty="0">
                <a:solidFill>
                  <a:schemeClr val="dk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  <a:sym typeface="Malgun Gothic"/>
              </a:rPr>
              <a:t>, </a:t>
            </a:r>
            <a:r>
              <a:rPr lang="en-US" sz="1000" dirty="0" err="1">
                <a:solidFill>
                  <a:schemeClr val="dk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  <a:sym typeface="Malgun Gothic"/>
              </a:rPr>
              <a:t>최우석</a:t>
            </a:r>
            <a:endParaRPr sz="1000" dirty="0">
              <a:solidFill>
                <a:schemeClr val="dk1"/>
              </a:solidFill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  <a:sym typeface="Malgun Gothi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-US" sz="4000" u="sng" dirty="0">
                <a:solidFill>
                  <a:schemeClr val="dk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Arial"/>
              </a:rPr>
              <a:t>Contents</a:t>
            </a:r>
            <a:endParaRPr sz="4000" u="sng" dirty="0"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  <a:sym typeface="Arial"/>
            </a:endParaRPr>
          </a:p>
        </p:txBody>
      </p:sp>
      <p:sp>
        <p:nvSpPr>
          <p:cNvPr id="101" name="Google Shape;101;p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14350" lvl="0" indent="-514350" algn="l" rtl="0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/>
            </a:pPr>
            <a:r>
              <a:rPr 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Motivation &amp; Goal</a:t>
            </a:r>
            <a:endParaRPr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514350" lvl="0" indent="-514350" algn="l" rtl="0">
              <a:lnSpc>
                <a:spcPct val="2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/>
            </a:pPr>
            <a:r>
              <a:rPr 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Previous Progress</a:t>
            </a:r>
            <a:endParaRPr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514350" lvl="0" indent="-514350" algn="l" rtl="0">
              <a:lnSpc>
                <a:spcPct val="250000"/>
              </a:lnSpc>
              <a:spcBef>
                <a:spcPts val="1000"/>
              </a:spcBef>
              <a:spcAft>
                <a:spcPts val="0"/>
              </a:spcAft>
              <a:buSzPts val="2000"/>
              <a:buAutoNum type="arabicPeriod"/>
            </a:pPr>
            <a:r>
              <a:rPr 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Progress After Interim</a:t>
            </a:r>
            <a:endParaRPr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514350" lvl="0" indent="-514350" algn="l" rtl="0">
              <a:lnSpc>
                <a:spcPct val="250000"/>
              </a:lnSpc>
              <a:spcBef>
                <a:spcPts val="1000"/>
              </a:spcBef>
              <a:spcAft>
                <a:spcPts val="0"/>
              </a:spcAft>
              <a:buSzPts val="2000"/>
              <a:buAutoNum type="arabicPeriod"/>
            </a:pPr>
            <a:r>
              <a:rPr 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Evaluation</a:t>
            </a:r>
            <a:endParaRPr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cxnSp>
        <p:nvCxnSpPr>
          <p:cNvPr id="102" name="Google Shape;102;p2"/>
          <p:cNvCxnSpPr/>
          <p:nvPr/>
        </p:nvCxnSpPr>
        <p:spPr>
          <a:xfrm>
            <a:off x="0" y="6676341"/>
            <a:ext cx="10129101" cy="0"/>
          </a:xfrm>
          <a:prstGeom prst="straightConnector1">
            <a:avLst/>
          </a:prstGeom>
          <a:noFill/>
          <a:ln w="19050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title"/>
          </p:nvPr>
        </p:nvSpPr>
        <p:spPr>
          <a:xfrm>
            <a:off x="838200" y="2766218"/>
            <a:ext cx="10515600" cy="1325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lang="en-US" sz="6000" u="sng" dirty="0">
                <a:solidFill>
                  <a:schemeClr val="dk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Arial"/>
              </a:rPr>
              <a:t>1. Motivation &amp; </a:t>
            </a:r>
            <a:r>
              <a:rPr lang="en-US" sz="6000" u="sng" dirty="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Arial"/>
              </a:rPr>
              <a:t>Goal</a:t>
            </a:r>
            <a:endParaRPr sz="6000" u="sng" dirty="0"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  <a:sym typeface="Arial"/>
            </a:endParaRPr>
          </a:p>
        </p:txBody>
      </p:sp>
      <p:cxnSp>
        <p:nvCxnSpPr>
          <p:cNvPr id="109" name="Google Shape;109;p3"/>
          <p:cNvCxnSpPr/>
          <p:nvPr/>
        </p:nvCxnSpPr>
        <p:spPr>
          <a:xfrm>
            <a:off x="0" y="6676341"/>
            <a:ext cx="10129200" cy="0"/>
          </a:xfrm>
          <a:prstGeom prst="straightConnector1">
            <a:avLst/>
          </a:prstGeom>
          <a:noFill/>
          <a:ln w="19050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-US" sz="4000" u="sng" dirty="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Arial"/>
              </a:rPr>
              <a:t>1</a:t>
            </a:r>
            <a:r>
              <a:rPr lang="en-US" sz="4000" u="sng" dirty="0">
                <a:solidFill>
                  <a:schemeClr val="dk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Arial"/>
              </a:rPr>
              <a:t>. Motivation &amp; Goal</a:t>
            </a:r>
            <a:endParaRPr sz="4000" u="sng" dirty="0"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  <a:sym typeface="Arial"/>
            </a:endParaRPr>
          </a:p>
        </p:txBody>
      </p:sp>
      <p:pic>
        <p:nvPicPr>
          <p:cNvPr id="117" name="Google Shape;117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53303" y="1658519"/>
            <a:ext cx="4829806" cy="4313759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18" name="Google Shape;118;p8"/>
          <p:cNvSpPr/>
          <p:nvPr/>
        </p:nvSpPr>
        <p:spPr>
          <a:xfrm>
            <a:off x="5669115" y="3511131"/>
            <a:ext cx="779400" cy="457200"/>
          </a:xfrm>
          <a:prstGeom prst="left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9" name="Google Shape;119;p8"/>
          <p:cNvSpPr txBox="1"/>
          <p:nvPr/>
        </p:nvSpPr>
        <p:spPr>
          <a:xfrm>
            <a:off x="1800030" y="6123574"/>
            <a:ext cx="2481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FER datasets in kaggle</a:t>
            </a:r>
            <a:endParaRPr sz="1800">
              <a:solidFill>
                <a:schemeClr val="dk1"/>
              </a:solidFill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  <a:sym typeface="Arial"/>
            </a:endParaRPr>
          </a:p>
        </p:txBody>
      </p:sp>
      <p:pic>
        <p:nvPicPr>
          <p:cNvPr id="120" name="Google Shape;120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7634" y="1658519"/>
            <a:ext cx="4846693" cy="4313758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21" name="Google Shape;121;p8"/>
          <p:cNvSpPr txBox="1"/>
          <p:nvPr/>
        </p:nvSpPr>
        <p:spPr>
          <a:xfrm>
            <a:off x="7138006" y="6123575"/>
            <a:ext cx="3860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Micro-expression datasets in </a:t>
            </a:r>
            <a:r>
              <a:rPr lang="en-US" sz="1800" dirty="0" err="1">
                <a:solidFill>
                  <a:schemeClr val="dk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kaggle</a:t>
            </a:r>
            <a:endParaRPr sz="1800" dirty="0">
              <a:solidFill>
                <a:schemeClr val="dk1"/>
              </a:solidFill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  <a:sym typeface="Arial"/>
            </a:endParaRPr>
          </a:p>
        </p:txBody>
      </p:sp>
      <p:cxnSp>
        <p:nvCxnSpPr>
          <p:cNvPr id="2" name="Google Shape;128;p9">
            <a:extLst>
              <a:ext uri="{FF2B5EF4-FFF2-40B4-BE49-F238E27FC236}">
                <a16:creationId xmlns:a16="http://schemas.microsoft.com/office/drawing/2014/main" id="{D8950B7A-E11A-92E9-CBEE-FDB4585FDDED}"/>
              </a:ext>
            </a:extLst>
          </p:cNvPr>
          <p:cNvCxnSpPr/>
          <p:nvPr/>
        </p:nvCxnSpPr>
        <p:spPr>
          <a:xfrm>
            <a:off x="0" y="6676373"/>
            <a:ext cx="10129200" cy="0"/>
          </a:xfrm>
          <a:prstGeom prst="straightConnector1">
            <a:avLst/>
          </a:prstGeom>
          <a:noFill/>
          <a:ln w="19050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-US" sz="4000" u="sng" dirty="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Arial"/>
              </a:rPr>
              <a:t>1</a:t>
            </a:r>
            <a:r>
              <a:rPr lang="en-US" sz="4000" u="sng" dirty="0">
                <a:solidFill>
                  <a:schemeClr val="dk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Arial"/>
              </a:rPr>
              <a:t>. Motivation &amp; Goal</a:t>
            </a:r>
            <a:endParaRPr sz="4000" u="sng" dirty="0"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  <a:sym typeface="Arial"/>
            </a:endParaRPr>
          </a:p>
        </p:txBody>
      </p:sp>
      <p:cxnSp>
        <p:nvCxnSpPr>
          <p:cNvPr id="128" name="Google Shape;128;p9"/>
          <p:cNvCxnSpPr/>
          <p:nvPr/>
        </p:nvCxnSpPr>
        <p:spPr>
          <a:xfrm>
            <a:off x="0" y="6676373"/>
            <a:ext cx="10129200" cy="0"/>
          </a:xfrm>
          <a:prstGeom prst="straightConnector1">
            <a:avLst/>
          </a:prstGeom>
          <a:noFill/>
          <a:ln w="19050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130" name="Google Shape;130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8200" y="1690825"/>
            <a:ext cx="4543507" cy="4312801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131" name="Google Shape;131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33945" y="1690825"/>
            <a:ext cx="4768865" cy="4312801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32" name="Google Shape;132;p9"/>
          <p:cNvSpPr txBox="1"/>
          <p:nvPr/>
        </p:nvSpPr>
        <p:spPr>
          <a:xfrm>
            <a:off x="1255094" y="6155402"/>
            <a:ext cx="3698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FER researches in </a:t>
            </a:r>
            <a:r>
              <a:rPr lang="en-US" sz="1800" dirty="0" err="1">
                <a:solidFill>
                  <a:schemeClr val="dk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paperswithcode</a:t>
            </a:r>
            <a:endParaRPr sz="1800" dirty="0">
              <a:solidFill>
                <a:schemeClr val="dk1"/>
              </a:solidFill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  <a:sym typeface="Arial"/>
            </a:endParaRPr>
          </a:p>
        </p:txBody>
      </p:sp>
      <p:sp>
        <p:nvSpPr>
          <p:cNvPr id="133" name="Google Shape;133;p9"/>
          <p:cNvSpPr txBox="1"/>
          <p:nvPr/>
        </p:nvSpPr>
        <p:spPr>
          <a:xfrm>
            <a:off x="6278277" y="6155402"/>
            <a:ext cx="5080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Micro-Expression researches in paperswithcode</a:t>
            </a:r>
            <a:endParaRPr sz="1800">
              <a:solidFill>
                <a:schemeClr val="dk1"/>
              </a:solidFill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  <a:sym typeface="Arial"/>
            </a:endParaRPr>
          </a:p>
        </p:txBody>
      </p:sp>
      <p:sp>
        <p:nvSpPr>
          <p:cNvPr id="2" name="Google Shape;118;p8">
            <a:extLst>
              <a:ext uri="{FF2B5EF4-FFF2-40B4-BE49-F238E27FC236}">
                <a16:creationId xmlns:a16="http://schemas.microsoft.com/office/drawing/2014/main" id="{13A039EF-1436-D46D-ECF4-1D38553B0104}"/>
              </a:ext>
            </a:extLst>
          </p:cNvPr>
          <p:cNvSpPr/>
          <p:nvPr/>
        </p:nvSpPr>
        <p:spPr>
          <a:xfrm>
            <a:off x="5518126" y="3511131"/>
            <a:ext cx="779400" cy="457200"/>
          </a:xfrm>
          <a:prstGeom prst="left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0"/>
          <p:cNvSpPr txBox="1">
            <a:spLocks noGrp="1"/>
          </p:cNvSpPr>
          <p:nvPr>
            <p:ph type="title"/>
          </p:nvPr>
        </p:nvSpPr>
        <p:spPr>
          <a:xfrm>
            <a:off x="838200" y="3594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-US" sz="4000" u="sng" dirty="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Arial"/>
              </a:rPr>
              <a:t>1. </a:t>
            </a:r>
            <a:r>
              <a:rPr lang="en-US" sz="4000" u="sng" dirty="0">
                <a:solidFill>
                  <a:schemeClr val="dk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Arial"/>
              </a:rPr>
              <a:t> Motivation &amp;</a:t>
            </a:r>
            <a:r>
              <a:rPr lang="en-US" sz="4000" u="sng" dirty="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Arial"/>
              </a:rPr>
              <a:t> </a:t>
            </a:r>
            <a:r>
              <a:rPr lang="en-US" sz="4000" u="sng" dirty="0">
                <a:solidFill>
                  <a:schemeClr val="dk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Arial"/>
              </a:rPr>
              <a:t>Goal</a:t>
            </a:r>
            <a:endParaRPr sz="4000" u="sng" dirty="0"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  <a:sym typeface="Arial"/>
            </a:endParaRPr>
          </a:p>
        </p:txBody>
      </p:sp>
      <p:cxnSp>
        <p:nvCxnSpPr>
          <p:cNvPr id="140" name="Google Shape;140;p10"/>
          <p:cNvCxnSpPr/>
          <p:nvPr/>
        </p:nvCxnSpPr>
        <p:spPr>
          <a:xfrm>
            <a:off x="0" y="6676341"/>
            <a:ext cx="10129101" cy="0"/>
          </a:xfrm>
          <a:prstGeom prst="straightConnector1">
            <a:avLst/>
          </a:prstGeom>
          <a:noFill/>
          <a:ln w="19050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41" name="Google Shape;141;p10"/>
          <p:cNvSpPr txBox="1">
            <a:spLocks noGrp="1"/>
          </p:cNvSpPr>
          <p:nvPr>
            <p:ph type="body" idx="1"/>
          </p:nvPr>
        </p:nvSpPr>
        <p:spPr>
          <a:xfrm>
            <a:off x="838199" y="1825625"/>
            <a:ext cx="10634221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dirty="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Arial"/>
              </a:rPr>
              <a:t>Goal</a:t>
            </a:r>
            <a:endParaRPr dirty="0"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  <a:p>
            <a:pPr marL="228600" lvl="0" indent="-2286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-"/>
            </a:pPr>
            <a:r>
              <a:rPr 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Detect a liar by using micro expression</a:t>
            </a:r>
            <a:endParaRPr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228600" lvl="0" indent="-1016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lgun Gothic"/>
              <a:buNone/>
            </a:pPr>
            <a:endParaRPr sz="2000" dirty="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2" name="Google Shape;142;p10" descr="Stream episode You Liar by Ellis Delta podcast | Listen online for free on  SoundClou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44196" y="1825625"/>
            <a:ext cx="4109604" cy="41096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7"/>
          <p:cNvSpPr txBox="1">
            <a:spLocks noGrp="1"/>
          </p:cNvSpPr>
          <p:nvPr>
            <p:ph type="title"/>
          </p:nvPr>
        </p:nvSpPr>
        <p:spPr>
          <a:xfrm>
            <a:off x="838200" y="2766218"/>
            <a:ext cx="10515600" cy="1325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lang="en-US" sz="6000" u="sng" dirty="0">
                <a:solidFill>
                  <a:schemeClr val="dk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Arial"/>
              </a:rPr>
              <a:t>2. </a:t>
            </a:r>
            <a:r>
              <a:rPr lang="en-US" sz="6000" u="sng" dirty="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Arial"/>
              </a:rPr>
              <a:t>Previous Progress</a:t>
            </a:r>
            <a:endParaRPr sz="6000" u="sng" dirty="0"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  <a:sym typeface="Arial"/>
            </a:endParaRPr>
          </a:p>
        </p:txBody>
      </p:sp>
      <p:cxnSp>
        <p:nvCxnSpPr>
          <p:cNvPr id="149" name="Google Shape;149;p7"/>
          <p:cNvCxnSpPr/>
          <p:nvPr/>
        </p:nvCxnSpPr>
        <p:spPr>
          <a:xfrm>
            <a:off x="0" y="6676341"/>
            <a:ext cx="10129200" cy="0"/>
          </a:xfrm>
          <a:prstGeom prst="straightConnector1">
            <a:avLst/>
          </a:prstGeom>
          <a:noFill/>
          <a:ln w="19050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4" name="Google Shape;154;p13"/>
          <p:cNvGrpSpPr/>
          <p:nvPr/>
        </p:nvGrpSpPr>
        <p:grpSpPr>
          <a:xfrm>
            <a:off x="73922" y="1649245"/>
            <a:ext cx="12044155" cy="4843630"/>
            <a:chOff x="45509" y="1939827"/>
            <a:chExt cx="12044155" cy="4843630"/>
          </a:xfrm>
        </p:grpSpPr>
        <p:sp>
          <p:nvSpPr>
            <p:cNvPr id="155" name="Google Shape;155;p13"/>
            <p:cNvSpPr/>
            <p:nvPr/>
          </p:nvSpPr>
          <p:spPr>
            <a:xfrm>
              <a:off x="45509" y="1962157"/>
              <a:ext cx="3820500" cy="4821300"/>
            </a:xfrm>
            <a:prstGeom prst="rect">
              <a:avLst/>
            </a:prstGeom>
            <a:solidFill>
              <a:srgbClr val="A3C5ED"/>
            </a:solidFill>
            <a:ln w="19050" cap="flat" cmpd="sng">
              <a:solidFill>
                <a:srgbClr val="082836"/>
              </a:solidFill>
              <a:prstDash val="lg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grpSp>
          <p:nvGrpSpPr>
            <p:cNvPr id="156" name="Google Shape;156;p13"/>
            <p:cNvGrpSpPr/>
            <p:nvPr/>
          </p:nvGrpSpPr>
          <p:grpSpPr>
            <a:xfrm>
              <a:off x="279302" y="3009721"/>
              <a:ext cx="2111892" cy="2018814"/>
              <a:chOff x="564572" y="1989675"/>
              <a:chExt cx="2111892" cy="2018814"/>
            </a:xfrm>
          </p:grpSpPr>
          <p:grpSp>
            <p:nvGrpSpPr>
              <p:cNvPr id="157" name="Google Shape;157;p13"/>
              <p:cNvGrpSpPr/>
              <p:nvPr/>
            </p:nvGrpSpPr>
            <p:grpSpPr>
              <a:xfrm>
                <a:off x="564572" y="1989675"/>
                <a:ext cx="1761259" cy="1711037"/>
                <a:chOff x="872836" y="1967345"/>
                <a:chExt cx="1761259" cy="1711037"/>
              </a:xfrm>
            </p:grpSpPr>
            <p:pic>
              <p:nvPicPr>
                <p:cNvPr id="158" name="Google Shape;158;p13" descr="인간의 얼굴, 사람, 인간의 수염, 인물사진이(가) 표시된 사진&#10;&#10;AI가 생성한 콘텐츠는 부정확할 수 있습니다.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/>
                <a:stretch/>
              </p:blipFill>
              <p:spPr>
                <a:xfrm>
                  <a:off x="872836" y="1967345"/>
                  <a:ext cx="1080655" cy="108065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159" name="Google Shape;159;p13" descr="인간의 얼굴, 사람, 인간의 수염, 인물사진이(가) 표시된 사진&#10;&#10;AI가 생성한 콘텐츠는 부정확할 수 있습니다.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/>
                <a:stretch/>
              </p:blipFill>
              <p:spPr>
                <a:xfrm>
                  <a:off x="1025236" y="2119745"/>
                  <a:ext cx="1080655" cy="108065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160" name="Google Shape;160;p13" descr="인간의 얼굴, 사람, 인간의 수염, 인물사진이(가) 표시된 사진&#10;&#10;AI가 생성한 콘텐츠는 부정확할 수 있습니다.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/>
                <a:stretch/>
              </p:blipFill>
              <p:spPr>
                <a:xfrm>
                  <a:off x="1177636" y="2272145"/>
                  <a:ext cx="1080655" cy="108065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161" name="Google Shape;161;p13" descr="인간의 얼굴, 사람, 인간의 수염, 인물사진이(가) 표시된 사진&#10;&#10;AI가 생성한 콘텐츠는 부정확할 수 있습니다.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/>
                <a:stretch/>
              </p:blipFill>
              <p:spPr>
                <a:xfrm>
                  <a:off x="1330036" y="2424545"/>
                  <a:ext cx="1080655" cy="108065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162" name="Google Shape;162;p13" descr="인간의 얼굴, 사람, 인간의 수염, 얼굴 털이(가) 표시된 사진&#10;&#10;AI가 생성한 콘텐츠는 부정확할 수 있습니다.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/>
                <a:stretch/>
              </p:blipFill>
              <p:spPr>
                <a:xfrm>
                  <a:off x="1553440" y="2597727"/>
                  <a:ext cx="1080655" cy="108065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sp>
            <p:nvSpPr>
              <p:cNvPr id="163" name="Google Shape;163;p13"/>
              <p:cNvSpPr txBox="1"/>
              <p:nvPr/>
            </p:nvSpPr>
            <p:spPr>
              <a:xfrm>
                <a:off x="670499" y="3700712"/>
                <a:ext cx="2005965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400" b="1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Preprocessed Video</a:t>
                </a:r>
                <a:endParaRPr sz="1400" b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4" name="Google Shape;164;p13"/>
            <p:cNvGrpSpPr/>
            <p:nvPr/>
          </p:nvGrpSpPr>
          <p:grpSpPr>
            <a:xfrm>
              <a:off x="2480444" y="4485600"/>
              <a:ext cx="1080655" cy="1371114"/>
              <a:chOff x="2902526" y="3496357"/>
              <a:chExt cx="1080655" cy="1371114"/>
            </a:xfrm>
          </p:grpSpPr>
          <p:pic>
            <p:nvPicPr>
              <p:cNvPr id="165" name="Google Shape;165;p13" descr="인간의 얼굴, 인간의 수염, 사람, 얼굴 털이(가) 표시된 사진&#10;&#10;AI가 생성한 콘텐츠는 부정확할 수 있습니다."/>
              <p:cNvPicPr preferRelativeResize="0"/>
              <p:nvPr/>
            </p:nvPicPr>
            <p:blipFill rotWithShape="1">
              <a:blip r:embed="rId5">
                <a:alphaModFix/>
              </a:blip>
              <a:srcRect/>
              <a:stretch/>
            </p:blipFill>
            <p:spPr>
              <a:xfrm>
                <a:off x="2902526" y="3496357"/>
                <a:ext cx="1080655" cy="108065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66" name="Google Shape;166;p13"/>
              <p:cNvSpPr txBox="1"/>
              <p:nvPr/>
            </p:nvSpPr>
            <p:spPr>
              <a:xfrm>
                <a:off x="2909454" y="4559694"/>
                <a:ext cx="1073727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400" b="1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Apex Frame</a:t>
                </a:r>
                <a:endParaRPr sz="1400" b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7" name="Google Shape;167;p13"/>
            <p:cNvGrpSpPr/>
            <p:nvPr/>
          </p:nvGrpSpPr>
          <p:grpSpPr>
            <a:xfrm>
              <a:off x="2491272" y="2283913"/>
              <a:ext cx="1229591" cy="1388432"/>
              <a:chOff x="2902526" y="1065370"/>
              <a:chExt cx="1229591" cy="1388432"/>
            </a:xfrm>
          </p:grpSpPr>
          <p:pic>
            <p:nvPicPr>
              <p:cNvPr id="168" name="Google Shape;168;p13" descr="인간의 얼굴, 사람, 인간의 수염, 얼굴 털이(가) 표시된 사진&#10;&#10;AI가 생성한 콘텐츠는 부정확할 수 있습니다."/>
              <p:cNvPicPr preferRelativeResize="0"/>
              <p:nvPr/>
            </p:nvPicPr>
            <p:blipFill rotWithShape="1">
              <a:blip r:embed="rId4">
                <a:alphaModFix/>
              </a:blip>
              <a:srcRect/>
              <a:stretch/>
            </p:blipFill>
            <p:spPr>
              <a:xfrm>
                <a:off x="2902526" y="1373147"/>
                <a:ext cx="1080655" cy="108065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69" name="Google Shape;169;p13"/>
              <p:cNvSpPr txBox="1"/>
              <p:nvPr/>
            </p:nvSpPr>
            <p:spPr>
              <a:xfrm>
                <a:off x="2902526" y="1065370"/>
                <a:ext cx="1229591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400" b="1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Onset Frame</a:t>
                </a:r>
                <a:endParaRPr sz="1400" b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70" name="Google Shape;170;p13"/>
            <p:cNvSpPr txBox="1"/>
            <p:nvPr/>
          </p:nvSpPr>
          <p:spPr>
            <a:xfrm>
              <a:off x="1427499" y="1939827"/>
              <a:ext cx="12297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Preprocess</a:t>
              </a:r>
              <a:endParaRPr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" name="Google Shape;171;p13"/>
            <p:cNvSpPr/>
            <p:nvPr/>
          </p:nvSpPr>
          <p:spPr>
            <a:xfrm>
              <a:off x="3995783" y="1939827"/>
              <a:ext cx="3527700" cy="4821300"/>
            </a:xfrm>
            <a:prstGeom prst="rect">
              <a:avLst/>
            </a:prstGeom>
            <a:solidFill>
              <a:srgbClr val="B3E5A0"/>
            </a:solidFill>
            <a:ln w="19050" cap="flat" cmpd="sng">
              <a:solidFill>
                <a:srgbClr val="082836"/>
              </a:solidFill>
              <a:prstDash val="lg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72" name="Google Shape;172;p13"/>
            <p:cNvSpPr/>
            <p:nvPr/>
          </p:nvSpPr>
          <p:spPr>
            <a:xfrm>
              <a:off x="7653380" y="1939827"/>
              <a:ext cx="3430800" cy="4821300"/>
            </a:xfrm>
            <a:prstGeom prst="rect">
              <a:avLst/>
            </a:prstGeom>
            <a:solidFill>
              <a:srgbClr val="FAE2D5"/>
            </a:solidFill>
            <a:ln w="19050" cap="flat" cmpd="sng">
              <a:solidFill>
                <a:srgbClr val="082836"/>
              </a:solidFill>
              <a:prstDash val="lg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73" name="Google Shape;173;p13"/>
            <p:cNvSpPr/>
            <p:nvPr/>
          </p:nvSpPr>
          <p:spPr>
            <a:xfrm>
              <a:off x="4099692" y="2579860"/>
              <a:ext cx="2918100" cy="1548000"/>
            </a:xfrm>
            <a:prstGeom prst="rect">
              <a:avLst/>
            </a:prstGeom>
            <a:solidFill>
              <a:srgbClr val="F2F2F2"/>
            </a:solidFill>
            <a:ln w="9525" cap="flat" cmpd="sng">
              <a:solidFill>
                <a:srgbClr val="082836"/>
              </a:solidFill>
              <a:prstDash val="lg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74" name="Google Shape;174;p13"/>
            <p:cNvSpPr/>
            <p:nvPr/>
          </p:nvSpPr>
          <p:spPr>
            <a:xfrm>
              <a:off x="4099692" y="4485600"/>
              <a:ext cx="2918100" cy="1548000"/>
            </a:xfrm>
            <a:prstGeom prst="rect">
              <a:avLst/>
            </a:prstGeom>
            <a:solidFill>
              <a:srgbClr val="F2F2F2"/>
            </a:solidFill>
            <a:ln w="9525" cap="flat" cmpd="sng">
              <a:solidFill>
                <a:srgbClr val="082836"/>
              </a:solidFill>
              <a:prstDash val="lg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75" name="Google Shape;175;p13"/>
            <p:cNvSpPr txBox="1"/>
            <p:nvPr/>
          </p:nvSpPr>
          <p:spPr>
            <a:xfrm>
              <a:off x="4762980" y="1941375"/>
              <a:ext cx="23925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Feature Extraction</a:t>
              </a:r>
              <a:endParaRPr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" name="Google Shape;176;p13"/>
            <p:cNvSpPr/>
            <p:nvPr/>
          </p:nvSpPr>
          <p:spPr>
            <a:xfrm>
              <a:off x="4277201" y="3043150"/>
              <a:ext cx="1558500" cy="904500"/>
            </a:xfrm>
            <a:prstGeom prst="roundRect">
              <a:avLst>
                <a:gd name="adj" fmla="val 16667"/>
              </a:avLst>
            </a:prstGeom>
            <a:solidFill>
              <a:srgbClr val="8CD872"/>
            </a:solidFill>
            <a:ln w="19050" cap="flat" cmpd="sng">
              <a:solidFill>
                <a:srgbClr val="082836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Resnet-50</a:t>
              </a:r>
              <a:endParaRPr sz="18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77" name="Google Shape;177;p13"/>
            <p:cNvSpPr/>
            <p:nvPr/>
          </p:nvSpPr>
          <p:spPr>
            <a:xfrm>
              <a:off x="4277201" y="4615641"/>
              <a:ext cx="1558500" cy="904500"/>
            </a:xfrm>
            <a:prstGeom prst="roundRect">
              <a:avLst>
                <a:gd name="adj" fmla="val 16667"/>
              </a:avLst>
            </a:prstGeom>
            <a:solidFill>
              <a:srgbClr val="81E490"/>
            </a:solidFill>
            <a:ln w="19050" cap="flat" cmpd="sng">
              <a:solidFill>
                <a:srgbClr val="082836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Resnet-18</a:t>
              </a:r>
              <a:endParaRPr sz="18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78" name="Google Shape;178;p13"/>
            <p:cNvSpPr txBox="1"/>
            <p:nvPr/>
          </p:nvSpPr>
          <p:spPr>
            <a:xfrm>
              <a:off x="4069374" y="2670352"/>
              <a:ext cx="20088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Facial Feature Extraction</a:t>
              </a:r>
              <a:endParaRPr sz="1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" name="Google Shape;179;p13"/>
            <p:cNvSpPr txBox="1"/>
            <p:nvPr/>
          </p:nvSpPr>
          <p:spPr>
            <a:xfrm>
              <a:off x="4099692" y="5520020"/>
              <a:ext cx="22080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Temporal Motion Feature Extraction</a:t>
              </a:r>
              <a:endParaRPr sz="1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" name="Google Shape;180;p13"/>
            <p:cNvSpPr/>
            <p:nvPr/>
          </p:nvSpPr>
          <p:spPr>
            <a:xfrm>
              <a:off x="6062705" y="3040962"/>
              <a:ext cx="749100" cy="904500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/>
              </a:stretch>
            </a:blip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latin typeface="Malgun Gothic"/>
                  <a:ea typeface="Malgun Gothic"/>
                  <a:cs typeface="Malgun Gothic"/>
                  <a:sym typeface="Malgun Gothic"/>
                </a:rPr>
                <a:t> </a:t>
              </a:r>
              <a:endParaRPr/>
            </a:p>
          </p:txBody>
        </p:sp>
        <p:sp>
          <p:nvSpPr>
            <p:cNvPr id="181" name="Google Shape;181;p13"/>
            <p:cNvSpPr/>
            <p:nvPr/>
          </p:nvSpPr>
          <p:spPr>
            <a:xfrm>
              <a:off x="6078291" y="4616479"/>
              <a:ext cx="749100" cy="904500"/>
            </a:xfrm>
            <a:prstGeom prst="rect">
              <a:avLst/>
            </a:prstGeom>
            <a:solidFill>
              <a:srgbClr val="81E490"/>
            </a:solidFill>
            <a:ln w="19050" cap="flat" cmpd="sng">
              <a:solidFill>
                <a:srgbClr val="082836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82" name="Google Shape;182;p13"/>
            <p:cNvSpPr txBox="1"/>
            <p:nvPr/>
          </p:nvSpPr>
          <p:spPr>
            <a:xfrm>
              <a:off x="5965721" y="4848882"/>
              <a:ext cx="983100" cy="369300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 b="-3276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latin typeface="Malgun Gothic"/>
                  <a:ea typeface="Malgun Gothic"/>
                  <a:cs typeface="Malgun Gothic"/>
                  <a:sym typeface="Malgun Gothic"/>
                </a:rPr>
                <a:t> </a:t>
              </a:r>
              <a:endParaRPr/>
            </a:p>
          </p:txBody>
        </p:sp>
        <p:sp>
          <p:nvSpPr>
            <p:cNvPr id="183" name="Google Shape;183;p13"/>
            <p:cNvSpPr txBox="1"/>
            <p:nvPr/>
          </p:nvSpPr>
          <p:spPr>
            <a:xfrm>
              <a:off x="7653380" y="1962157"/>
              <a:ext cx="33408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Classification</a:t>
              </a:r>
              <a:endParaRPr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" name="Google Shape;184;p13"/>
            <p:cNvSpPr/>
            <p:nvPr/>
          </p:nvSpPr>
          <p:spPr>
            <a:xfrm>
              <a:off x="8129200" y="2668956"/>
              <a:ext cx="1062600" cy="3363000"/>
            </a:xfrm>
            <a:prstGeom prst="roundRect">
              <a:avLst>
                <a:gd name="adj" fmla="val 16667"/>
              </a:avLst>
            </a:prstGeom>
            <a:solidFill>
              <a:srgbClr val="F2F2F2"/>
            </a:solidFill>
            <a:ln w="19050" cap="flat" cmpd="sng">
              <a:solidFill>
                <a:srgbClr val="082836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Concat</a:t>
              </a:r>
              <a:endParaRPr sz="18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85" name="Google Shape;185;p13"/>
            <p:cNvSpPr/>
            <p:nvPr/>
          </p:nvSpPr>
          <p:spPr>
            <a:xfrm>
              <a:off x="9606655" y="2668956"/>
              <a:ext cx="1062600" cy="3363000"/>
            </a:xfrm>
            <a:prstGeom prst="roundRect">
              <a:avLst>
                <a:gd name="adj" fmla="val 16667"/>
              </a:avLst>
            </a:prstGeom>
            <a:solidFill>
              <a:srgbClr val="F2F2F2"/>
            </a:solidFill>
            <a:ln w="19050" cap="flat" cmpd="sng">
              <a:solidFill>
                <a:srgbClr val="082836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MLP</a:t>
              </a:r>
              <a:endParaRPr sz="18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86" name="Google Shape;186;p13"/>
            <p:cNvSpPr txBox="1"/>
            <p:nvPr/>
          </p:nvSpPr>
          <p:spPr>
            <a:xfrm>
              <a:off x="11349272" y="4118152"/>
              <a:ext cx="740392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Label</a:t>
              </a:r>
              <a:endParaRPr sz="1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87" name="Google Shape;187;p13"/>
            <p:cNvCxnSpPr/>
            <p:nvPr/>
          </p:nvCxnSpPr>
          <p:spPr>
            <a:xfrm rot="10800000" flipH="1">
              <a:off x="2040561" y="3466948"/>
              <a:ext cx="467700" cy="5403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188" name="Google Shape;188;p13"/>
            <p:cNvCxnSpPr/>
            <p:nvPr/>
          </p:nvCxnSpPr>
          <p:spPr>
            <a:xfrm>
              <a:off x="2046511" y="4398471"/>
              <a:ext cx="441000" cy="4503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189" name="Google Shape;189;p13"/>
            <p:cNvCxnSpPr/>
            <p:nvPr/>
          </p:nvCxnSpPr>
          <p:spPr>
            <a:xfrm rot="10800000">
              <a:off x="3027806" y="4211149"/>
              <a:ext cx="6600" cy="2706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190" name="Google Shape;190;p13"/>
            <p:cNvCxnSpPr/>
            <p:nvPr/>
          </p:nvCxnSpPr>
          <p:spPr>
            <a:xfrm>
              <a:off x="3009085" y="3677694"/>
              <a:ext cx="8400" cy="3279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191" name="Google Shape;191;p13"/>
            <p:cNvSpPr/>
            <p:nvPr/>
          </p:nvSpPr>
          <p:spPr>
            <a:xfrm>
              <a:off x="2923129" y="4007534"/>
              <a:ext cx="222600" cy="201900"/>
            </a:xfrm>
            <a:prstGeom prst="flowChartConnector">
              <a:avLst/>
            </a:prstGeom>
            <a:solidFill>
              <a:schemeClr val="lt2"/>
            </a:solidFill>
            <a:ln w="19050" cap="flat" cmpd="sng">
              <a:solidFill>
                <a:srgbClr val="082836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cxnSp>
          <p:nvCxnSpPr>
            <p:cNvPr id="192" name="Google Shape;192;p13"/>
            <p:cNvCxnSpPr/>
            <p:nvPr/>
          </p:nvCxnSpPr>
          <p:spPr>
            <a:xfrm>
              <a:off x="3015794" y="5810794"/>
              <a:ext cx="8400" cy="3279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193" name="Google Shape;193;p13"/>
            <p:cNvSpPr/>
            <p:nvPr/>
          </p:nvSpPr>
          <p:spPr>
            <a:xfrm>
              <a:off x="2477847" y="6161039"/>
              <a:ext cx="1062600" cy="474000"/>
            </a:xfrm>
            <a:prstGeom prst="roundRect">
              <a:avLst>
                <a:gd name="adj" fmla="val 16667"/>
              </a:avLst>
            </a:prstGeom>
            <a:solidFill>
              <a:srgbClr val="F2F2F2"/>
            </a:solidFill>
            <a:ln w="19050" cap="flat" cmpd="sng">
              <a:solidFill>
                <a:srgbClr val="082836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Action</a:t>
              </a:r>
              <a:endParaRPr/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Unit</a:t>
              </a:r>
              <a:endParaRPr sz="14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cxnSp>
          <p:nvCxnSpPr>
            <p:cNvPr id="194" name="Google Shape;194;p13"/>
            <p:cNvCxnSpPr>
              <a:stCxn id="193" idx="3"/>
            </p:cNvCxnSpPr>
            <p:nvPr/>
          </p:nvCxnSpPr>
          <p:spPr>
            <a:xfrm>
              <a:off x="3540447" y="6398039"/>
              <a:ext cx="51405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95" name="Google Shape;195;p13"/>
            <p:cNvCxnSpPr/>
            <p:nvPr/>
          </p:nvCxnSpPr>
          <p:spPr>
            <a:xfrm rot="10800000">
              <a:off x="8680771" y="6023013"/>
              <a:ext cx="0" cy="3750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196" name="Google Shape;196;p13"/>
            <p:cNvCxnSpPr>
              <a:endCxn id="177" idx="1"/>
            </p:cNvCxnSpPr>
            <p:nvPr/>
          </p:nvCxnSpPr>
          <p:spPr>
            <a:xfrm>
              <a:off x="3145601" y="4090491"/>
              <a:ext cx="1131600" cy="977400"/>
            </a:xfrm>
            <a:prstGeom prst="bentConnector3">
              <a:avLst>
                <a:gd name="adj1" fmla="val 50000"/>
              </a:avLst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197" name="Google Shape;197;p13"/>
            <p:cNvCxnSpPr/>
            <p:nvPr/>
          </p:nvCxnSpPr>
          <p:spPr>
            <a:xfrm>
              <a:off x="3561099" y="3353798"/>
              <a:ext cx="7161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198" name="Google Shape;198;p13"/>
            <p:cNvCxnSpPr/>
            <p:nvPr/>
          </p:nvCxnSpPr>
          <p:spPr>
            <a:xfrm>
              <a:off x="3915683" y="3702448"/>
              <a:ext cx="3615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199" name="Google Shape;199;p13"/>
            <p:cNvCxnSpPr/>
            <p:nvPr/>
          </p:nvCxnSpPr>
          <p:spPr>
            <a:xfrm>
              <a:off x="3934733" y="3694061"/>
              <a:ext cx="0" cy="11463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00" name="Google Shape;200;p13"/>
            <p:cNvCxnSpPr/>
            <p:nvPr/>
          </p:nvCxnSpPr>
          <p:spPr>
            <a:xfrm rot="10800000">
              <a:off x="3561233" y="4840495"/>
              <a:ext cx="3735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01" name="Google Shape;201;p13"/>
            <p:cNvCxnSpPr/>
            <p:nvPr/>
          </p:nvCxnSpPr>
          <p:spPr>
            <a:xfrm>
              <a:off x="5830463" y="5060737"/>
              <a:ext cx="256500" cy="39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202" name="Google Shape;202;p13"/>
            <p:cNvCxnSpPr/>
            <p:nvPr/>
          </p:nvCxnSpPr>
          <p:spPr>
            <a:xfrm>
              <a:off x="5821020" y="3489302"/>
              <a:ext cx="256500" cy="39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203" name="Google Shape;203;p13"/>
            <p:cNvSpPr txBox="1"/>
            <p:nvPr/>
          </p:nvSpPr>
          <p:spPr>
            <a:xfrm>
              <a:off x="2897805" y="3908673"/>
              <a:ext cx="5421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-</a:t>
              </a:r>
              <a:endParaRPr sz="18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grpSp>
          <p:nvGrpSpPr>
            <p:cNvPr id="204" name="Google Shape;204;p13"/>
            <p:cNvGrpSpPr/>
            <p:nvPr/>
          </p:nvGrpSpPr>
          <p:grpSpPr>
            <a:xfrm>
              <a:off x="7129520" y="4118152"/>
              <a:ext cx="312793" cy="307777"/>
              <a:chOff x="7254596" y="3056790"/>
              <a:chExt cx="312793" cy="307777"/>
            </a:xfrm>
          </p:grpSpPr>
          <p:sp>
            <p:nvSpPr>
              <p:cNvPr id="205" name="Google Shape;205;p13"/>
              <p:cNvSpPr/>
              <p:nvPr/>
            </p:nvSpPr>
            <p:spPr>
              <a:xfrm>
                <a:off x="7290089" y="3125531"/>
                <a:ext cx="222542" cy="201773"/>
              </a:xfrm>
              <a:prstGeom prst="flowChartConnector">
                <a:avLst/>
              </a:prstGeom>
              <a:solidFill>
                <a:schemeClr val="lt2"/>
              </a:solidFill>
              <a:ln w="19050" cap="flat" cmpd="sng">
                <a:solidFill>
                  <a:srgbClr val="082836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1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206" name="Google Shape;206;p13"/>
              <p:cNvSpPr txBox="1"/>
              <p:nvPr/>
            </p:nvSpPr>
            <p:spPr>
              <a:xfrm>
                <a:off x="7254596" y="3056790"/>
                <a:ext cx="312793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400" b="1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+</a:t>
                </a:r>
                <a:endParaRPr sz="1400" b="1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cxnSp>
          <p:nvCxnSpPr>
            <p:cNvPr id="207" name="Google Shape;207;p13"/>
            <p:cNvCxnSpPr>
              <a:cxnSpLocks/>
              <a:stCxn id="180" idx="2"/>
            </p:cNvCxnSpPr>
            <p:nvPr/>
          </p:nvCxnSpPr>
          <p:spPr>
            <a:xfrm rot="16200000" flipH="1">
              <a:off x="6741776" y="3640941"/>
              <a:ext cx="234194" cy="843236"/>
            </a:xfrm>
            <a:prstGeom prst="bentConnector2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208" name="Google Shape;208;p13"/>
            <p:cNvCxnSpPr>
              <a:cxnSpLocks/>
              <a:stCxn id="181" idx="0"/>
            </p:cNvCxnSpPr>
            <p:nvPr/>
          </p:nvCxnSpPr>
          <p:spPr>
            <a:xfrm rot="5400000" flipH="1" flipV="1">
              <a:off x="6756083" y="4092073"/>
              <a:ext cx="221164" cy="827648"/>
            </a:xfrm>
            <a:prstGeom prst="bentConnector2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209" name="Google Shape;209;p13"/>
            <p:cNvCxnSpPr/>
            <p:nvPr/>
          </p:nvCxnSpPr>
          <p:spPr>
            <a:xfrm>
              <a:off x="7413098" y="4278005"/>
              <a:ext cx="7161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210" name="Google Shape;210;p13"/>
            <p:cNvSpPr txBox="1"/>
            <p:nvPr/>
          </p:nvSpPr>
          <p:spPr>
            <a:xfrm>
              <a:off x="7572196" y="4048393"/>
              <a:ext cx="23925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Flatten</a:t>
              </a:r>
              <a:endParaRPr sz="12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11" name="Google Shape;211;p13"/>
            <p:cNvCxnSpPr/>
            <p:nvPr/>
          </p:nvCxnSpPr>
          <p:spPr>
            <a:xfrm>
              <a:off x="9191675" y="4287779"/>
              <a:ext cx="4149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212" name="Google Shape;212;p13"/>
            <p:cNvCxnSpPr/>
            <p:nvPr/>
          </p:nvCxnSpPr>
          <p:spPr>
            <a:xfrm>
              <a:off x="10669130" y="4295210"/>
              <a:ext cx="7161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</p:grpSp>
      <p:sp>
        <p:nvSpPr>
          <p:cNvPr id="213" name="Google Shape;213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-US" sz="4000" u="sng" dirty="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Arial"/>
              </a:rPr>
              <a:t>2. Previous Progress</a:t>
            </a:r>
            <a:endParaRPr sz="4000" u="sng" dirty="0"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9" name="Google Shape;219;p17"/>
          <p:cNvCxnSpPr/>
          <p:nvPr/>
        </p:nvCxnSpPr>
        <p:spPr>
          <a:xfrm>
            <a:off x="0" y="6676341"/>
            <a:ext cx="10129101" cy="0"/>
          </a:xfrm>
          <a:prstGeom prst="straightConnector1">
            <a:avLst/>
          </a:prstGeom>
          <a:noFill/>
          <a:ln w="19050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20" name="Google Shape;220;p17"/>
          <p:cNvSpPr txBox="1">
            <a:spLocks noGrp="1"/>
          </p:cNvSpPr>
          <p:nvPr>
            <p:ph type="body" idx="1"/>
          </p:nvPr>
        </p:nvSpPr>
        <p:spPr>
          <a:xfrm>
            <a:off x="838199" y="1825625"/>
            <a:ext cx="10634221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dirty="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Arial"/>
              </a:rPr>
              <a:t>Previous Plans</a:t>
            </a:r>
            <a:endParaRPr dirty="0"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  <a:p>
            <a:pPr marL="228600" lvl="0" indent="-2286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-"/>
            </a:pPr>
            <a:r>
              <a:rPr lang="en-US" sz="20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  <a:sym typeface="Arial"/>
              </a:rPr>
              <a:t>Step: Preprocessing → Feature Extraction → Binary Classification → Evaluation</a:t>
            </a:r>
            <a:endParaRPr dirty="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  <a:p>
            <a:pPr marL="228600" lvl="0" indent="-2286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-"/>
            </a:pPr>
            <a:r>
              <a:rPr 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Preprocessing: Use additional datasets to make final datasets.</a:t>
            </a:r>
            <a:endParaRPr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228600" lvl="0" indent="-2286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-"/>
            </a:pPr>
            <a:r>
              <a:rPr 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Feature Extraction : Test other methods and choose final methods.</a:t>
            </a:r>
            <a:endParaRPr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228600" lvl="0" indent="-2286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-"/>
            </a:pPr>
            <a:r>
              <a:rPr 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Binary Classification: Test other methods and choose final methods and fine tuning.</a:t>
            </a:r>
            <a:endParaRPr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228600" lvl="0" indent="-2286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-"/>
            </a:pPr>
            <a:r>
              <a:rPr 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Evaluation: Choose classification evaluation method.</a:t>
            </a:r>
            <a:endParaRPr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221" name="Google Shape;221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-US" sz="4000" u="sng" dirty="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Arial"/>
              </a:rPr>
              <a:t>2. Previous Progress</a:t>
            </a:r>
            <a:endParaRPr sz="4000" u="sng" dirty="0"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1"/>
          <p:cNvSpPr txBox="1">
            <a:spLocks noGrp="1"/>
          </p:cNvSpPr>
          <p:nvPr>
            <p:ph type="title"/>
          </p:nvPr>
        </p:nvSpPr>
        <p:spPr>
          <a:xfrm>
            <a:off x="677825" y="2766225"/>
            <a:ext cx="10984500" cy="1325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6000" u="sng" dirty="0">
                <a:solidFill>
                  <a:schemeClr val="dk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Arial"/>
              </a:rPr>
              <a:t>3. </a:t>
            </a:r>
            <a:r>
              <a:rPr lang="en-US" sz="6000" u="sng" dirty="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Arial"/>
              </a:rPr>
              <a:t>Progress After Interim</a:t>
            </a:r>
            <a:endParaRPr sz="6000" u="sng" dirty="0"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  <a:sym typeface="Arial"/>
            </a:endParaRPr>
          </a:p>
        </p:txBody>
      </p:sp>
      <p:cxnSp>
        <p:nvCxnSpPr>
          <p:cNvPr id="228" name="Google Shape;228;p11"/>
          <p:cNvCxnSpPr/>
          <p:nvPr/>
        </p:nvCxnSpPr>
        <p:spPr>
          <a:xfrm>
            <a:off x="0" y="6676341"/>
            <a:ext cx="10129101" cy="0"/>
          </a:xfrm>
          <a:prstGeom prst="straightConnector1">
            <a:avLst/>
          </a:prstGeom>
          <a:noFill/>
          <a:ln w="19050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CA796723-321B-9D78-A566-A65E1ABC3894}"/>
              </a:ext>
            </a:extLst>
          </p:cNvPr>
          <p:cNvGrpSpPr/>
          <p:nvPr/>
        </p:nvGrpSpPr>
        <p:grpSpPr>
          <a:xfrm>
            <a:off x="86697" y="1649163"/>
            <a:ext cx="12018605" cy="4843712"/>
            <a:chOff x="180109" y="883227"/>
            <a:chExt cx="12018605" cy="4843712"/>
          </a:xfrm>
        </p:grpSpPr>
        <p:sp>
          <p:nvSpPr>
            <p:cNvPr id="233" name="Google Shape;233;p18"/>
            <p:cNvSpPr/>
            <p:nvPr/>
          </p:nvSpPr>
          <p:spPr>
            <a:xfrm>
              <a:off x="180109" y="905557"/>
              <a:ext cx="3820391" cy="4821382"/>
            </a:xfrm>
            <a:prstGeom prst="rect">
              <a:avLst/>
            </a:prstGeom>
            <a:solidFill>
              <a:srgbClr val="A3C5ED"/>
            </a:solidFill>
            <a:ln w="19050" cap="flat" cmpd="sng">
              <a:solidFill>
                <a:srgbClr val="082836"/>
              </a:solidFill>
              <a:prstDash val="lg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grpSp>
          <p:nvGrpSpPr>
            <p:cNvPr id="234" name="Google Shape;234;p18"/>
            <p:cNvGrpSpPr/>
            <p:nvPr/>
          </p:nvGrpSpPr>
          <p:grpSpPr>
            <a:xfrm>
              <a:off x="413902" y="1953121"/>
              <a:ext cx="1761259" cy="2018814"/>
              <a:chOff x="564572" y="1989675"/>
              <a:chExt cx="1761259" cy="2018814"/>
            </a:xfrm>
          </p:grpSpPr>
          <p:grpSp>
            <p:nvGrpSpPr>
              <p:cNvPr id="235" name="Google Shape;235;p18"/>
              <p:cNvGrpSpPr/>
              <p:nvPr/>
            </p:nvGrpSpPr>
            <p:grpSpPr>
              <a:xfrm>
                <a:off x="564572" y="1989675"/>
                <a:ext cx="1761259" cy="1711037"/>
                <a:chOff x="872836" y="1967345"/>
                <a:chExt cx="1761259" cy="1711037"/>
              </a:xfrm>
            </p:grpSpPr>
            <p:pic>
              <p:nvPicPr>
                <p:cNvPr id="236" name="Google Shape;236;p18" descr="인간의 얼굴, 사람, 인간의 수염, 인물사진이(가) 표시된 사진&#10;&#10;AI가 생성한 콘텐츠는 부정확할 수 있습니다.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/>
                <a:stretch/>
              </p:blipFill>
              <p:spPr>
                <a:xfrm>
                  <a:off x="872836" y="1967345"/>
                  <a:ext cx="1080655" cy="108065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237" name="Google Shape;237;p18" descr="인간의 얼굴, 사람, 인간의 수염, 인물사진이(가) 표시된 사진&#10;&#10;AI가 생성한 콘텐츠는 부정확할 수 있습니다.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/>
                <a:stretch/>
              </p:blipFill>
              <p:spPr>
                <a:xfrm>
                  <a:off x="1025236" y="2119745"/>
                  <a:ext cx="1080655" cy="108065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238" name="Google Shape;238;p18" descr="인간의 얼굴, 사람, 인간의 수염, 인물사진이(가) 표시된 사진&#10;&#10;AI가 생성한 콘텐츠는 부정확할 수 있습니다.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/>
                <a:stretch/>
              </p:blipFill>
              <p:spPr>
                <a:xfrm>
                  <a:off x="1177636" y="2272145"/>
                  <a:ext cx="1080655" cy="108065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239" name="Google Shape;239;p18" descr="인간의 얼굴, 사람, 인간의 수염, 인물사진이(가) 표시된 사진&#10;&#10;AI가 생성한 콘텐츠는 부정확할 수 있습니다.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/>
                <a:stretch/>
              </p:blipFill>
              <p:spPr>
                <a:xfrm>
                  <a:off x="1330036" y="2424545"/>
                  <a:ext cx="1080655" cy="108065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240" name="Google Shape;240;p18" descr="인간의 얼굴, 사람, 인간의 수염, 얼굴 털이(가) 표시된 사진&#10;&#10;AI가 생성한 콘텐츠는 부정확할 수 있습니다.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/>
                <a:stretch/>
              </p:blipFill>
              <p:spPr>
                <a:xfrm>
                  <a:off x="1553440" y="2597727"/>
                  <a:ext cx="1080655" cy="108065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sp>
            <p:nvSpPr>
              <p:cNvPr id="241" name="Google Shape;241;p18"/>
              <p:cNvSpPr txBox="1"/>
              <p:nvPr/>
            </p:nvSpPr>
            <p:spPr>
              <a:xfrm>
                <a:off x="1009995" y="3700712"/>
                <a:ext cx="914400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400" b="1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Video</a:t>
                </a:r>
                <a:endParaRPr sz="1400" b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42" name="Google Shape;242;p18"/>
            <p:cNvGrpSpPr/>
            <p:nvPr/>
          </p:nvGrpSpPr>
          <p:grpSpPr>
            <a:xfrm>
              <a:off x="2615044" y="3429000"/>
              <a:ext cx="1080655" cy="1371114"/>
              <a:chOff x="2902526" y="3496357"/>
              <a:chExt cx="1080655" cy="1371114"/>
            </a:xfrm>
          </p:grpSpPr>
          <p:pic>
            <p:nvPicPr>
              <p:cNvPr id="243" name="Google Shape;243;p18" descr="인간의 얼굴, 인간의 수염, 사람, 얼굴 털이(가) 표시된 사진&#10;&#10;AI가 생성한 콘텐츠는 부정확할 수 있습니다."/>
              <p:cNvPicPr preferRelativeResize="0"/>
              <p:nvPr/>
            </p:nvPicPr>
            <p:blipFill rotWithShape="1">
              <a:blip r:embed="rId5">
                <a:alphaModFix/>
              </a:blip>
              <a:srcRect/>
              <a:stretch/>
            </p:blipFill>
            <p:spPr>
              <a:xfrm>
                <a:off x="2902526" y="3496357"/>
                <a:ext cx="1080655" cy="108065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44" name="Google Shape;244;p18"/>
              <p:cNvSpPr txBox="1"/>
              <p:nvPr/>
            </p:nvSpPr>
            <p:spPr>
              <a:xfrm>
                <a:off x="2909454" y="4559694"/>
                <a:ext cx="1073727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400" b="1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Apex Frame</a:t>
                </a:r>
                <a:endParaRPr sz="1400" b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45" name="Google Shape;245;p18"/>
            <p:cNvGrpSpPr/>
            <p:nvPr/>
          </p:nvGrpSpPr>
          <p:grpSpPr>
            <a:xfrm>
              <a:off x="2625872" y="1227313"/>
              <a:ext cx="1229591" cy="1388432"/>
              <a:chOff x="2902526" y="1065370"/>
              <a:chExt cx="1229591" cy="1388432"/>
            </a:xfrm>
          </p:grpSpPr>
          <p:pic>
            <p:nvPicPr>
              <p:cNvPr id="246" name="Google Shape;246;p18" descr="인간의 얼굴, 사람, 인간의 수염, 얼굴 털이(가) 표시된 사진&#10;&#10;AI가 생성한 콘텐츠는 부정확할 수 있습니다."/>
              <p:cNvPicPr preferRelativeResize="0"/>
              <p:nvPr/>
            </p:nvPicPr>
            <p:blipFill rotWithShape="1">
              <a:blip r:embed="rId4">
                <a:alphaModFix/>
              </a:blip>
              <a:srcRect/>
              <a:stretch/>
            </p:blipFill>
            <p:spPr>
              <a:xfrm>
                <a:off x="2902526" y="1373147"/>
                <a:ext cx="1080655" cy="108065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47" name="Google Shape;247;p18"/>
              <p:cNvSpPr txBox="1"/>
              <p:nvPr/>
            </p:nvSpPr>
            <p:spPr>
              <a:xfrm>
                <a:off x="2902526" y="1065370"/>
                <a:ext cx="1229591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400" b="1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Onset Frame</a:t>
                </a:r>
                <a:endParaRPr sz="1400" b="1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48" name="Google Shape;248;p18"/>
            <p:cNvSpPr txBox="1"/>
            <p:nvPr/>
          </p:nvSpPr>
          <p:spPr>
            <a:xfrm>
              <a:off x="1562099" y="883227"/>
              <a:ext cx="1229590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Preprocess</a:t>
              </a:r>
              <a:endParaRPr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9" name="Google Shape;249;p18"/>
            <p:cNvSpPr/>
            <p:nvPr/>
          </p:nvSpPr>
          <p:spPr>
            <a:xfrm>
              <a:off x="4130383" y="883227"/>
              <a:ext cx="3527714" cy="4821382"/>
            </a:xfrm>
            <a:prstGeom prst="rect">
              <a:avLst/>
            </a:prstGeom>
            <a:solidFill>
              <a:srgbClr val="B3E5A0"/>
            </a:solidFill>
            <a:ln w="19050" cap="flat" cmpd="sng">
              <a:solidFill>
                <a:srgbClr val="082836"/>
              </a:solidFill>
              <a:prstDash val="lg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50" name="Google Shape;250;p18"/>
            <p:cNvSpPr/>
            <p:nvPr/>
          </p:nvSpPr>
          <p:spPr>
            <a:xfrm>
              <a:off x="7787980" y="883227"/>
              <a:ext cx="3430731" cy="4821382"/>
            </a:xfrm>
            <a:prstGeom prst="rect">
              <a:avLst/>
            </a:prstGeom>
            <a:solidFill>
              <a:srgbClr val="FAE2D5"/>
            </a:solidFill>
            <a:ln w="19050" cap="flat" cmpd="sng">
              <a:solidFill>
                <a:srgbClr val="082836"/>
              </a:solidFill>
              <a:prstDash val="lg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51" name="Google Shape;251;p18"/>
            <p:cNvSpPr/>
            <p:nvPr/>
          </p:nvSpPr>
          <p:spPr>
            <a:xfrm>
              <a:off x="4234292" y="1523260"/>
              <a:ext cx="2918117" cy="1547876"/>
            </a:xfrm>
            <a:prstGeom prst="rect">
              <a:avLst/>
            </a:prstGeom>
            <a:solidFill>
              <a:srgbClr val="F2F2F2"/>
            </a:solidFill>
            <a:ln w="9525" cap="flat" cmpd="sng">
              <a:solidFill>
                <a:srgbClr val="082836"/>
              </a:solidFill>
              <a:prstDash val="lg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52" name="Google Shape;252;p18"/>
            <p:cNvSpPr/>
            <p:nvPr/>
          </p:nvSpPr>
          <p:spPr>
            <a:xfrm>
              <a:off x="4234292" y="3429000"/>
              <a:ext cx="2918117" cy="1547876"/>
            </a:xfrm>
            <a:prstGeom prst="rect">
              <a:avLst/>
            </a:prstGeom>
            <a:solidFill>
              <a:srgbClr val="F2F2F2"/>
            </a:solidFill>
            <a:ln w="9525" cap="flat" cmpd="sng">
              <a:solidFill>
                <a:srgbClr val="082836"/>
              </a:solidFill>
              <a:prstDash val="lg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53" name="Google Shape;253;p18"/>
            <p:cNvSpPr txBox="1"/>
            <p:nvPr/>
          </p:nvSpPr>
          <p:spPr>
            <a:xfrm>
              <a:off x="4897580" y="884775"/>
              <a:ext cx="2392509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Feature Extraction</a:t>
              </a:r>
              <a:endParaRPr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4" name="Google Shape;254;p18"/>
            <p:cNvSpPr/>
            <p:nvPr/>
          </p:nvSpPr>
          <p:spPr>
            <a:xfrm>
              <a:off x="4411801" y="1986550"/>
              <a:ext cx="1558637" cy="904379"/>
            </a:xfrm>
            <a:prstGeom prst="roundRect">
              <a:avLst>
                <a:gd name="adj" fmla="val 16667"/>
              </a:avLst>
            </a:prstGeom>
            <a:solidFill>
              <a:srgbClr val="8CD872"/>
            </a:solidFill>
            <a:ln w="19050" cap="flat" cmpd="sng">
              <a:solidFill>
                <a:srgbClr val="082836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Resnet-50</a:t>
              </a:r>
              <a:endParaRPr sz="18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55" name="Google Shape;255;p18"/>
            <p:cNvSpPr/>
            <p:nvPr/>
          </p:nvSpPr>
          <p:spPr>
            <a:xfrm>
              <a:off x="4411801" y="3559041"/>
              <a:ext cx="1558637" cy="904379"/>
            </a:xfrm>
            <a:prstGeom prst="roundRect">
              <a:avLst>
                <a:gd name="adj" fmla="val 16667"/>
              </a:avLst>
            </a:prstGeom>
            <a:solidFill>
              <a:srgbClr val="81E490"/>
            </a:solidFill>
            <a:ln w="19050" cap="flat" cmpd="sng">
              <a:solidFill>
                <a:srgbClr val="082836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Resnet-50</a:t>
              </a:r>
              <a:endParaRPr sz="18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marL="457200" marR="0" lvl="0" indent="0" algn="just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+ CVA</a:t>
              </a:r>
              <a:endParaRPr sz="18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56" name="Google Shape;256;p18"/>
            <p:cNvSpPr txBox="1"/>
            <p:nvPr/>
          </p:nvSpPr>
          <p:spPr>
            <a:xfrm>
              <a:off x="4203974" y="1613752"/>
              <a:ext cx="2008918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Facial Feature Extraction</a:t>
              </a:r>
              <a:endParaRPr sz="1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7" name="Google Shape;257;p18"/>
            <p:cNvSpPr txBox="1"/>
            <p:nvPr/>
          </p:nvSpPr>
          <p:spPr>
            <a:xfrm>
              <a:off x="4234292" y="4463420"/>
              <a:ext cx="2208071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Temporal Motion Feature Extraction</a:t>
              </a:r>
              <a:endParaRPr sz="1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8" name="Google Shape;258;p18"/>
            <p:cNvSpPr/>
            <p:nvPr/>
          </p:nvSpPr>
          <p:spPr>
            <a:xfrm>
              <a:off x="6197305" y="1984362"/>
              <a:ext cx="749017" cy="904379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/>
              </a:stretch>
            </a:blip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latin typeface="Malgun Gothic"/>
                  <a:ea typeface="Malgun Gothic"/>
                  <a:cs typeface="Malgun Gothic"/>
                  <a:sym typeface="Malgun Gothic"/>
                </a:rPr>
                <a:t> </a:t>
              </a:r>
              <a:endParaRPr/>
            </a:p>
          </p:txBody>
        </p:sp>
        <p:sp>
          <p:nvSpPr>
            <p:cNvPr id="259" name="Google Shape;259;p18"/>
            <p:cNvSpPr/>
            <p:nvPr/>
          </p:nvSpPr>
          <p:spPr>
            <a:xfrm>
              <a:off x="6212891" y="3559879"/>
              <a:ext cx="749017" cy="904379"/>
            </a:xfrm>
            <a:prstGeom prst="rect">
              <a:avLst/>
            </a:prstGeom>
            <a:solidFill>
              <a:srgbClr val="81E490"/>
            </a:solidFill>
            <a:ln w="19050" cap="flat" cmpd="sng">
              <a:solidFill>
                <a:srgbClr val="082836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60" name="Google Shape;260;p18"/>
            <p:cNvSpPr txBox="1"/>
            <p:nvPr/>
          </p:nvSpPr>
          <p:spPr>
            <a:xfrm>
              <a:off x="6100321" y="3792282"/>
              <a:ext cx="982961" cy="369332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 b="-3276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latin typeface="Malgun Gothic"/>
                  <a:ea typeface="Malgun Gothic"/>
                  <a:cs typeface="Malgun Gothic"/>
                  <a:sym typeface="Malgun Gothic"/>
                </a:rPr>
                <a:t> </a:t>
              </a:r>
              <a:endParaRPr/>
            </a:p>
          </p:txBody>
        </p:sp>
        <p:sp>
          <p:nvSpPr>
            <p:cNvPr id="261" name="Google Shape;261;p18"/>
            <p:cNvSpPr txBox="1"/>
            <p:nvPr/>
          </p:nvSpPr>
          <p:spPr>
            <a:xfrm>
              <a:off x="7787980" y="905557"/>
              <a:ext cx="3340684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Classification</a:t>
              </a:r>
              <a:endParaRPr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2" name="Google Shape;262;p18"/>
            <p:cNvSpPr/>
            <p:nvPr/>
          </p:nvSpPr>
          <p:spPr>
            <a:xfrm>
              <a:off x="8263800" y="1612356"/>
              <a:ext cx="1062475" cy="3363123"/>
            </a:xfrm>
            <a:prstGeom prst="roundRect">
              <a:avLst>
                <a:gd name="adj" fmla="val 16667"/>
              </a:avLst>
            </a:prstGeom>
            <a:solidFill>
              <a:srgbClr val="F2F2F2"/>
            </a:solidFill>
            <a:ln w="19050" cap="flat" cmpd="sng">
              <a:solidFill>
                <a:srgbClr val="082836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Concat</a:t>
              </a:r>
              <a:endParaRPr sz="18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63" name="Google Shape;263;p18"/>
            <p:cNvSpPr/>
            <p:nvPr/>
          </p:nvSpPr>
          <p:spPr>
            <a:xfrm>
              <a:off x="9741255" y="1612356"/>
              <a:ext cx="1062475" cy="3363123"/>
            </a:xfrm>
            <a:prstGeom prst="roundRect">
              <a:avLst>
                <a:gd name="adj" fmla="val 16667"/>
              </a:avLst>
            </a:prstGeom>
            <a:solidFill>
              <a:srgbClr val="F2F2F2"/>
            </a:solidFill>
            <a:ln w="19050" cap="flat" cmpd="sng">
              <a:solidFill>
                <a:srgbClr val="082836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MLP</a:t>
              </a:r>
              <a:endParaRPr sz="18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64" name="Google Shape;264;p18"/>
            <p:cNvSpPr txBox="1"/>
            <p:nvPr/>
          </p:nvSpPr>
          <p:spPr>
            <a:xfrm>
              <a:off x="11463622" y="3051820"/>
              <a:ext cx="735092" cy="3692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Label</a:t>
              </a:r>
              <a:endParaRPr sz="1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65" name="Google Shape;265;p18"/>
            <p:cNvCxnSpPr/>
            <p:nvPr/>
          </p:nvCxnSpPr>
          <p:spPr>
            <a:xfrm rot="10800000" flipH="1">
              <a:off x="2175161" y="2410321"/>
              <a:ext cx="467589" cy="540327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266" name="Google Shape;266;p18"/>
            <p:cNvCxnSpPr/>
            <p:nvPr/>
          </p:nvCxnSpPr>
          <p:spPr>
            <a:xfrm>
              <a:off x="2181111" y="3341871"/>
              <a:ext cx="440861" cy="450411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267" name="Google Shape;267;p18"/>
            <p:cNvCxnSpPr/>
            <p:nvPr/>
          </p:nvCxnSpPr>
          <p:spPr>
            <a:xfrm rot="10800000">
              <a:off x="3162517" y="3154633"/>
              <a:ext cx="6489" cy="270516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268" name="Google Shape;268;p18"/>
            <p:cNvCxnSpPr/>
            <p:nvPr/>
          </p:nvCxnSpPr>
          <p:spPr>
            <a:xfrm>
              <a:off x="3143685" y="2621094"/>
              <a:ext cx="8441" cy="327915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269" name="Google Shape;269;p18"/>
            <p:cNvSpPr/>
            <p:nvPr/>
          </p:nvSpPr>
          <p:spPr>
            <a:xfrm>
              <a:off x="3057729" y="2950934"/>
              <a:ext cx="222542" cy="201773"/>
            </a:xfrm>
            <a:prstGeom prst="flowChartConnector">
              <a:avLst/>
            </a:prstGeom>
            <a:solidFill>
              <a:schemeClr val="lt2"/>
            </a:solidFill>
            <a:ln w="19050" cap="flat" cmpd="sng">
              <a:solidFill>
                <a:srgbClr val="082836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cxnSp>
          <p:nvCxnSpPr>
            <p:cNvPr id="270" name="Google Shape;270;p18"/>
            <p:cNvCxnSpPr/>
            <p:nvPr/>
          </p:nvCxnSpPr>
          <p:spPr>
            <a:xfrm>
              <a:off x="3150394" y="4754194"/>
              <a:ext cx="8441" cy="327915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271" name="Google Shape;271;p18"/>
            <p:cNvSpPr/>
            <p:nvPr/>
          </p:nvSpPr>
          <p:spPr>
            <a:xfrm>
              <a:off x="2612447" y="5104439"/>
              <a:ext cx="1062475" cy="473949"/>
            </a:xfrm>
            <a:prstGeom prst="roundRect">
              <a:avLst>
                <a:gd name="adj" fmla="val 16667"/>
              </a:avLst>
            </a:prstGeom>
            <a:solidFill>
              <a:srgbClr val="F2F2F2"/>
            </a:solidFill>
            <a:ln w="19050" cap="flat" cmpd="sng">
              <a:solidFill>
                <a:srgbClr val="082836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Action</a:t>
              </a:r>
              <a:endParaRPr/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Unit</a:t>
              </a:r>
              <a:endParaRPr sz="14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cxnSp>
          <p:nvCxnSpPr>
            <p:cNvPr id="272" name="Google Shape;272;p18"/>
            <p:cNvCxnSpPr>
              <a:stCxn id="271" idx="3"/>
            </p:cNvCxnSpPr>
            <p:nvPr/>
          </p:nvCxnSpPr>
          <p:spPr>
            <a:xfrm>
              <a:off x="3674922" y="5341414"/>
              <a:ext cx="51405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73" name="Google Shape;273;p18"/>
            <p:cNvCxnSpPr/>
            <p:nvPr/>
          </p:nvCxnSpPr>
          <p:spPr>
            <a:xfrm rot="10800000">
              <a:off x="8815371" y="4966289"/>
              <a:ext cx="0" cy="375124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274" name="Google Shape;274;p18"/>
            <p:cNvCxnSpPr>
              <a:endCxn id="255" idx="1"/>
            </p:cNvCxnSpPr>
            <p:nvPr/>
          </p:nvCxnSpPr>
          <p:spPr>
            <a:xfrm>
              <a:off x="3280201" y="3033831"/>
              <a:ext cx="1131600" cy="977400"/>
            </a:xfrm>
            <a:prstGeom prst="bentConnector3">
              <a:avLst>
                <a:gd name="adj1" fmla="val 50000"/>
              </a:avLst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275" name="Google Shape;275;p18"/>
            <p:cNvCxnSpPr/>
            <p:nvPr/>
          </p:nvCxnSpPr>
          <p:spPr>
            <a:xfrm>
              <a:off x="3695699" y="2297198"/>
              <a:ext cx="716102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276" name="Google Shape;276;p18"/>
            <p:cNvCxnSpPr/>
            <p:nvPr/>
          </p:nvCxnSpPr>
          <p:spPr>
            <a:xfrm>
              <a:off x="4050283" y="2645848"/>
              <a:ext cx="361518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277" name="Google Shape;277;p18"/>
            <p:cNvCxnSpPr/>
            <p:nvPr/>
          </p:nvCxnSpPr>
          <p:spPr>
            <a:xfrm>
              <a:off x="4069333" y="2637461"/>
              <a:ext cx="0" cy="1146434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78" name="Google Shape;278;p18"/>
            <p:cNvCxnSpPr/>
            <p:nvPr/>
          </p:nvCxnSpPr>
          <p:spPr>
            <a:xfrm rot="10800000">
              <a:off x="3695699" y="3783895"/>
              <a:ext cx="373634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79" name="Google Shape;279;p18"/>
            <p:cNvCxnSpPr/>
            <p:nvPr/>
          </p:nvCxnSpPr>
          <p:spPr>
            <a:xfrm>
              <a:off x="5965063" y="4004137"/>
              <a:ext cx="256503" cy="3849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280" name="Google Shape;280;p18"/>
            <p:cNvCxnSpPr/>
            <p:nvPr/>
          </p:nvCxnSpPr>
          <p:spPr>
            <a:xfrm>
              <a:off x="5955620" y="2432702"/>
              <a:ext cx="256503" cy="3849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281" name="Google Shape;281;p18"/>
            <p:cNvSpPr txBox="1"/>
            <p:nvPr/>
          </p:nvSpPr>
          <p:spPr>
            <a:xfrm>
              <a:off x="3032405" y="2852073"/>
              <a:ext cx="542061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-</a:t>
              </a:r>
              <a:endParaRPr sz="18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grpSp>
          <p:nvGrpSpPr>
            <p:cNvPr id="282" name="Google Shape;282;p18"/>
            <p:cNvGrpSpPr/>
            <p:nvPr/>
          </p:nvGrpSpPr>
          <p:grpSpPr>
            <a:xfrm>
              <a:off x="7264120" y="3061552"/>
              <a:ext cx="312793" cy="307777"/>
              <a:chOff x="7254596" y="3056790"/>
              <a:chExt cx="312793" cy="307777"/>
            </a:xfrm>
          </p:grpSpPr>
          <p:sp>
            <p:nvSpPr>
              <p:cNvPr id="283" name="Google Shape;283;p18"/>
              <p:cNvSpPr/>
              <p:nvPr/>
            </p:nvSpPr>
            <p:spPr>
              <a:xfrm>
                <a:off x="7290089" y="3125531"/>
                <a:ext cx="222542" cy="201773"/>
              </a:xfrm>
              <a:prstGeom prst="flowChartConnector">
                <a:avLst/>
              </a:prstGeom>
              <a:solidFill>
                <a:schemeClr val="lt2"/>
              </a:solidFill>
              <a:ln w="19050" cap="flat" cmpd="sng">
                <a:solidFill>
                  <a:srgbClr val="082836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1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284" name="Google Shape;284;p18"/>
              <p:cNvSpPr txBox="1"/>
              <p:nvPr/>
            </p:nvSpPr>
            <p:spPr>
              <a:xfrm>
                <a:off x="7254596" y="3056790"/>
                <a:ext cx="312793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400" b="1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+</a:t>
                </a:r>
                <a:endParaRPr sz="1400" b="1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cxnSp>
          <p:nvCxnSpPr>
            <p:cNvPr id="285" name="Google Shape;285;p18"/>
            <p:cNvCxnSpPr>
              <a:cxnSpLocks/>
              <a:stCxn id="258" idx="2"/>
            </p:cNvCxnSpPr>
            <p:nvPr/>
          </p:nvCxnSpPr>
          <p:spPr>
            <a:xfrm rot="16200000" flipH="1">
              <a:off x="6876295" y="2584260"/>
              <a:ext cx="234314" cy="843276"/>
            </a:xfrm>
            <a:prstGeom prst="bentConnector2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286" name="Google Shape;286;p18"/>
            <p:cNvCxnSpPr>
              <a:cxnSpLocks/>
              <a:stCxn id="259" idx="0"/>
            </p:cNvCxnSpPr>
            <p:nvPr/>
          </p:nvCxnSpPr>
          <p:spPr>
            <a:xfrm rot="5400000" flipH="1" flipV="1">
              <a:off x="6890663" y="3035452"/>
              <a:ext cx="221164" cy="827690"/>
            </a:xfrm>
            <a:prstGeom prst="bentConnector2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287" name="Google Shape;287;p18"/>
            <p:cNvCxnSpPr/>
            <p:nvPr/>
          </p:nvCxnSpPr>
          <p:spPr>
            <a:xfrm>
              <a:off x="7547698" y="3221405"/>
              <a:ext cx="716102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288" name="Google Shape;288;p18"/>
            <p:cNvSpPr txBox="1"/>
            <p:nvPr/>
          </p:nvSpPr>
          <p:spPr>
            <a:xfrm>
              <a:off x="7719146" y="2944493"/>
              <a:ext cx="23925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Flatten</a:t>
              </a:r>
              <a:endParaRPr sz="12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89" name="Google Shape;289;p18"/>
            <p:cNvCxnSpPr/>
            <p:nvPr/>
          </p:nvCxnSpPr>
          <p:spPr>
            <a:xfrm>
              <a:off x="9326275" y="3231179"/>
              <a:ext cx="41498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290" name="Google Shape;290;p18"/>
            <p:cNvCxnSpPr/>
            <p:nvPr/>
          </p:nvCxnSpPr>
          <p:spPr>
            <a:xfrm>
              <a:off x="10803730" y="3238610"/>
              <a:ext cx="716102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</p:grpSp>
      <p:sp>
        <p:nvSpPr>
          <p:cNvPr id="12" name="Google Shape;213;p13">
            <a:extLst>
              <a:ext uri="{FF2B5EF4-FFF2-40B4-BE49-F238E27FC236}">
                <a16:creationId xmlns:a16="http://schemas.microsoft.com/office/drawing/2014/main" id="{1AC0BEA1-6F53-3D4D-1109-9F9A2CFF6CD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-US" sz="4000" u="sng" dirty="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Arial"/>
              </a:rPr>
              <a:t>3. Progress After Interim</a:t>
            </a:r>
            <a:endParaRPr sz="4000" u="sng" dirty="0"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7" name="Google Shape;297;g360302aa50d_2_0"/>
          <p:cNvCxnSpPr/>
          <p:nvPr/>
        </p:nvCxnSpPr>
        <p:spPr>
          <a:xfrm>
            <a:off x="0" y="6676341"/>
            <a:ext cx="10129200" cy="0"/>
          </a:xfrm>
          <a:prstGeom prst="straightConnector1">
            <a:avLst/>
          </a:prstGeom>
          <a:noFill/>
          <a:ln w="19050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299" name="Google Shape;299;g360302aa50d_2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84212" y="3214523"/>
            <a:ext cx="3569588" cy="2267311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" name="Google Shape;213;p13">
            <a:extLst>
              <a:ext uri="{FF2B5EF4-FFF2-40B4-BE49-F238E27FC236}">
                <a16:creationId xmlns:a16="http://schemas.microsoft.com/office/drawing/2014/main" id="{3ABCDE3C-13C6-9BA7-F85D-B68868C59E66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00000"/>
              </a:lnSpc>
              <a:buSzPts val="4000"/>
              <a:buFont typeface="Arial"/>
              <a:buNone/>
            </a:pPr>
            <a:r>
              <a:rPr lang="en-US" sz="4000" u="sng" dirty="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Arial"/>
              </a:rPr>
              <a:t>3. Progress After Interim</a:t>
            </a:r>
          </a:p>
        </p:txBody>
      </p:sp>
      <p:sp>
        <p:nvSpPr>
          <p:cNvPr id="7" name="Google Shape;220;p17">
            <a:extLst>
              <a:ext uri="{FF2B5EF4-FFF2-40B4-BE49-F238E27FC236}">
                <a16:creationId xmlns:a16="http://schemas.microsoft.com/office/drawing/2014/main" id="{762AD1A3-0A94-902B-5D1C-7687F78FDB5E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87182" cy="3095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tabLst/>
              <a:defRPr/>
            </a:pPr>
            <a:r>
              <a:rPr kumimoji="0" lang="en-US" altLang="ko-KR" sz="1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Arial"/>
              </a:rPr>
              <a:t>Data Preparation &amp; Preprocessing</a:t>
            </a:r>
          </a:p>
          <a:p>
            <a:pPr marL="228600" marR="0" lvl="0" indent="-22860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-"/>
              <a:tabLst/>
              <a:defRPr/>
            </a:pPr>
            <a:r>
              <a:rPr kumimoji="0" lang="en-US" altLang="ko-KR" sz="1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Kaggle</a:t>
            </a:r>
            <a:r>
              <a:rPr kumimoji="0" lang="ko-KR" altLang="en-US" sz="1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의 거짓말 탐지를 위한 </a:t>
            </a:r>
            <a:r>
              <a:rPr kumimoji="0" lang="en-US" altLang="ko-KR" sz="1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Micro Expression </a:t>
            </a:r>
            <a:r>
              <a:rPr kumimoji="0" lang="ko-KR" altLang="en-US" sz="1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데이터셋 활용</a:t>
            </a:r>
          </a:p>
          <a:p>
            <a:pPr marL="228600" marR="0" lvl="0" indent="-22860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-"/>
              <a:tabLst/>
              <a:defRPr/>
            </a:pPr>
            <a:r>
              <a:rPr kumimoji="0" lang="en-US" altLang="ko-KR" sz="1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Real-life deception (</a:t>
            </a:r>
            <a:r>
              <a:rPr kumimoji="0" lang="ko-KR" altLang="en-US" sz="1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법정 위증 데이터셋</a:t>
            </a:r>
            <a:r>
              <a:rPr kumimoji="0" lang="en-US" altLang="ko-KR" sz="1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) </a:t>
            </a:r>
            <a:r>
              <a:rPr kumimoji="0" lang="ko-KR" altLang="en-US" sz="1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활용</a:t>
            </a:r>
          </a:p>
          <a:p>
            <a:pPr marL="228600" marR="0" lvl="0" indent="-22860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-"/>
              <a:tabLst/>
              <a:defRPr/>
            </a:pPr>
            <a:r>
              <a:rPr kumimoji="0" lang="en-US" altLang="ko-KR" sz="1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Bag-of-Lies </a:t>
            </a:r>
            <a:r>
              <a:rPr kumimoji="0" lang="ko-KR" altLang="en-US" sz="1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데이터셋 활용하려 했지만 실패</a:t>
            </a:r>
          </a:p>
          <a:p>
            <a:pPr marL="228600" marR="0" lvl="0" indent="-22860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-"/>
              <a:tabLst/>
              <a:defRPr/>
            </a:pPr>
            <a:r>
              <a:rPr kumimoji="0" lang="ko-KR" altLang="en-US" sz="1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총 </a:t>
            </a:r>
            <a:r>
              <a:rPr kumimoji="0" lang="en-US" altLang="ko-KR" sz="1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170</a:t>
            </a:r>
            <a:r>
              <a:rPr kumimoji="0" lang="ko-KR" altLang="en-US" sz="1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개의 </a:t>
            </a:r>
            <a:r>
              <a:rPr kumimoji="0" lang="en-US" altLang="ko-KR" sz="1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train data </a:t>
            </a:r>
            <a:r>
              <a:rPr kumimoji="0" lang="ko-KR" altLang="en-US" sz="1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사용</a:t>
            </a:r>
            <a:endParaRPr kumimoji="0" lang="en-US" altLang="ko-KR" sz="19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  <a:sym typeface="Arial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CDC45099-0C97-21C8-2B52-BB7030617C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84211" y="1825625"/>
            <a:ext cx="3569589" cy="118466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7" name="Google Shape;307;g35e623adf87_2_6"/>
          <p:cNvCxnSpPr/>
          <p:nvPr/>
        </p:nvCxnSpPr>
        <p:spPr>
          <a:xfrm>
            <a:off x="0" y="6676341"/>
            <a:ext cx="10129200" cy="0"/>
          </a:xfrm>
          <a:prstGeom prst="straightConnector1">
            <a:avLst/>
          </a:prstGeom>
          <a:noFill/>
          <a:ln w="19050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08" name="Google Shape;308;g35e623adf87_2_6"/>
          <p:cNvSpPr txBox="1">
            <a:spLocks noGrp="1"/>
          </p:cNvSpPr>
          <p:nvPr>
            <p:ph type="body" idx="1"/>
          </p:nvPr>
        </p:nvSpPr>
        <p:spPr>
          <a:xfrm>
            <a:off x="838199" y="1825625"/>
            <a:ext cx="106341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</a:pPr>
            <a:r>
              <a:rPr lang="en-US" sz="2000" dirty="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Arial"/>
              </a:rPr>
              <a:t>Onset/Apex Frame Extraction</a:t>
            </a:r>
          </a:p>
          <a:p>
            <a:pPr marL="342900" lvl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200"/>
              <a:buFontTx/>
              <a:buChar char="-"/>
            </a:pPr>
            <a:r>
              <a:rPr 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mediapipe</a:t>
            </a:r>
            <a:r>
              <a:rPr 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 </a:t>
            </a:r>
            <a:r>
              <a:rPr 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라이브러리</a:t>
            </a:r>
            <a:r>
              <a:rPr 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 중 Face </a:t>
            </a:r>
            <a:r>
              <a:rPr 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Mesh를</a:t>
            </a:r>
            <a:r>
              <a:rPr 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 </a:t>
            </a:r>
            <a:r>
              <a:rPr 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이용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해</a:t>
            </a:r>
            <a:r>
              <a:rPr 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 </a:t>
            </a:r>
            <a:r>
              <a:rPr 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얼굴</a:t>
            </a:r>
            <a:r>
              <a:rPr 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 </a:t>
            </a:r>
            <a:r>
              <a:rPr 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랜드마크</a:t>
            </a:r>
            <a:r>
              <a:rPr 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 </a:t>
            </a:r>
            <a:r>
              <a:rPr 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추출</a:t>
            </a:r>
            <a:endParaRPr lang="en-US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  <a:sym typeface="Arial"/>
            </a:endParaRPr>
          </a:p>
          <a:p>
            <a:pPr marL="342900" lvl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200"/>
              <a:buFontTx/>
              <a:buChar char="-"/>
            </a:pPr>
            <a:r>
              <a:rPr 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이전</a:t>
            </a:r>
            <a:r>
              <a:rPr 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 </a:t>
            </a:r>
            <a:r>
              <a:rPr 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이미지</a:t>
            </a:r>
            <a:r>
              <a:rPr 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 </a:t>
            </a:r>
            <a:r>
              <a:rPr 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프레임과</a:t>
            </a:r>
            <a:r>
              <a:rPr 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 </a:t>
            </a:r>
            <a:r>
              <a:rPr 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현재</a:t>
            </a:r>
            <a:r>
              <a:rPr 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 </a:t>
            </a:r>
            <a:r>
              <a:rPr 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이미지</a:t>
            </a:r>
            <a:r>
              <a:rPr 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 </a:t>
            </a:r>
            <a:r>
              <a:rPr 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프레임</a:t>
            </a:r>
            <a:r>
              <a:rPr 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 </a:t>
            </a:r>
            <a:r>
              <a:rPr 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간의</a:t>
            </a:r>
            <a:r>
              <a:rPr 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 </a:t>
            </a:r>
            <a:r>
              <a:rPr 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픽셀</a:t>
            </a:r>
            <a:r>
              <a:rPr 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 </a:t>
            </a:r>
            <a:r>
              <a:rPr 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움직임</a:t>
            </a:r>
            <a:r>
              <a:rPr 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 </a:t>
            </a:r>
            <a:r>
              <a:rPr 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변화량</a:t>
            </a:r>
            <a:r>
              <a:rPr 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 (motion score) </a:t>
            </a:r>
            <a:r>
              <a:rPr 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계산</a:t>
            </a:r>
            <a:endParaRPr lang="en-US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  <a:sym typeface="Arial"/>
            </a:endParaRPr>
          </a:p>
          <a:p>
            <a:pPr marL="800100" lvl="1">
              <a:lnSpc>
                <a:spcPct val="150000"/>
              </a:lnSpc>
              <a:spcBef>
                <a:spcPts val="1000"/>
              </a:spcBef>
              <a:buSzPts val="2200"/>
              <a:buFontTx/>
              <a:buChar char="-"/>
            </a:pPr>
            <a:r>
              <a:rPr 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Optical </a:t>
            </a:r>
            <a:r>
              <a:rPr 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flow와</a:t>
            </a:r>
            <a:r>
              <a:rPr 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 landmark </a:t>
            </a:r>
            <a:r>
              <a:rPr 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displacement에</a:t>
            </a:r>
            <a:r>
              <a:rPr 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 0.7:0.3의 </a:t>
            </a:r>
            <a:r>
              <a:rPr 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가중치</a:t>
            </a:r>
            <a:r>
              <a:rPr 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 </a:t>
            </a:r>
            <a:r>
              <a:rPr 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부여</a:t>
            </a:r>
            <a:endParaRPr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  <a:sym typeface="Arial"/>
            </a:endParaRPr>
          </a:p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5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  <a:sym typeface="Arial"/>
            </a:endParaRPr>
          </a:p>
          <a:p>
            <a:pPr marL="228600" lvl="0" indent="-2286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Arial"/>
              <a:buChar char="-"/>
            </a:pPr>
            <a:r>
              <a:rPr 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threshold </a:t>
            </a:r>
            <a:r>
              <a:rPr 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이상의</a:t>
            </a:r>
            <a:r>
              <a:rPr 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 </a:t>
            </a:r>
            <a:r>
              <a:rPr 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변화량이</a:t>
            </a:r>
            <a:r>
              <a:rPr 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 </a:t>
            </a:r>
            <a:r>
              <a:rPr 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나타나는</a:t>
            </a:r>
            <a:r>
              <a:rPr 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 </a:t>
            </a:r>
            <a:r>
              <a:rPr 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프레임을</a:t>
            </a:r>
            <a:r>
              <a:rPr 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 onset(</a:t>
            </a:r>
            <a:r>
              <a:rPr 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없을</a:t>
            </a:r>
            <a:r>
              <a:rPr 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 시 </a:t>
            </a:r>
            <a:r>
              <a:rPr 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첫번째</a:t>
            </a:r>
            <a:r>
              <a:rPr 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 </a:t>
            </a:r>
            <a:r>
              <a:rPr 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프레임</a:t>
            </a:r>
            <a:r>
              <a:rPr 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)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으로 지정</a:t>
            </a:r>
            <a:endParaRPr lang="en-US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  <a:sym typeface="Arial"/>
            </a:endParaRPr>
          </a:p>
          <a:p>
            <a:pPr marL="228600" lvl="0" indent="-2286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Arial"/>
              <a:buChar char="-"/>
            </a:pPr>
            <a:r>
              <a:rPr 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motion </a:t>
            </a:r>
            <a:r>
              <a:rPr 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score가</a:t>
            </a:r>
            <a:r>
              <a:rPr 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 </a:t>
            </a:r>
            <a:r>
              <a:rPr 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최댓값이</a:t>
            </a:r>
            <a:r>
              <a:rPr 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 </a:t>
            </a:r>
            <a:r>
              <a:rPr 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되는</a:t>
            </a:r>
            <a:r>
              <a:rPr 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 </a:t>
            </a:r>
            <a:r>
              <a:rPr 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프레임을</a:t>
            </a:r>
            <a:r>
              <a:rPr 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 </a:t>
            </a:r>
            <a:r>
              <a:rPr 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apex로</a:t>
            </a:r>
            <a:r>
              <a:rPr 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 </a:t>
            </a:r>
            <a:r>
              <a:rPr 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지정</a:t>
            </a:r>
            <a:endParaRPr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  <a:sym typeface="Arial"/>
            </a:endParaRPr>
          </a:p>
        </p:txBody>
      </p:sp>
      <p:pic>
        <p:nvPicPr>
          <p:cNvPr id="309" name="Google Shape;309;g35e623adf87_2_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22349" y="4252787"/>
            <a:ext cx="5358850" cy="78536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0" name="Google Shape;310;g35e623adf87_2_6"/>
          <p:cNvGrpSpPr/>
          <p:nvPr/>
        </p:nvGrpSpPr>
        <p:grpSpPr>
          <a:xfrm>
            <a:off x="10317122" y="5104421"/>
            <a:ext cx="1080654" cy="1388454"/>
            <a:chOff x="2902526" y="3496357"/>
            <a:chExt cx="1080654" cy="1388454"/>
          </a:xfrm>
        </p:grpSpPr>
        <p:pic>
          <p:nvPicPr>
            <p:cNvPr id="311" name="Google Shape;311;g35e623adf87_2_6" descr="인간의 얼굴, 인간의 수염, 사람, 얼굴 털이(가) 표시된 사진&#10;&#10;AI가 생성한 콘텐츠는 부정확할 수 있습니다.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902526" y="3496357"/>
              <a:ext cx="1080654" cy="1080654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312" name="Google Shape;312;g35e623adf87_2_6"/>
            <p:cNvSpPr txBox="1"/>
            <p:nvPr/>
          </p:nvSpPr>
          <p:spPr>
            <a:xfrm>
              <a:off x="2909480" y="4577011"/>
              <a:ext cx="10737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Apex Frame</a:t>
              </a:r>
              <a:endParaRPr sz="1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0C20533E-7D0C-99E2-A0C4-2E7E0466D63D}"/>
              </a:ext>
            </a:extLst>
          </p:cNvPr>
          <p:cNvGrpSpPr/>
          <p:nvPr/>
        </p:nvGrpSpPr>
        <p:grpSpPr>
          <a:xfrm>
            <a:off x="10242599" y="3588148"/>
            <a:ext cx="1229700" cy="1388454"/>
            <a:chOff x="10360053" y="3533517"/>
            <a:chExt cx="1229700" cy="1388454"/>
          </a:xfrm>
        </p:grpSpPr>
        <p:pic>
          <p:nvPicPr>
            <p:cNvPr id="314" name="Google Shape;314;g35e623adf87_2_6" descr="인간의 얼굴, 사람, 인간의 수염, 얼굴 털이(가) 표시된 사진&#10;&#10;AI가 생성한 콘텐츠는 부정확할 수 있습니다.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10434576" y="3533517"/>
              <a:ext cx="1080654" cy="1080654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315" name="Google Shape;315;g35e623adf87_2_6"/>
            <p:cNvSpPr txBox="1"/>
            <p:nvPr/>
          </p:nvSpPr>
          <p:spPr>
            <a:xfrm>
              <a:off x="10360053" y="4614171"/>
              <a:ext cx="12297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Onset Frame</a:t>
              </a:r>
              <a:endParaRPr sz="1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" name="Google Shape;213;p13">
            <a:extLst>
              <a:ext uri="{FF2B5EF4-FFF2-40B4-BE49-F238E27FC236}">
                <a16:creationId xmlns:a16="http://schemas.microsoft.com/office/drawing/2014/main" id="{B969E823-4760-A3E3-BA92-F11F97313098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00000"/>
              </a:lnSpc>
              <a:buSzPts val="4000"/>
              <a:buFont typeface="Arial"/>
              <a:buNone/>
            </a:pPr>
            <a:r>
              <a:rPr lang="en-US" sz="4000" u="sng" dirty="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Arial"/>
              </a:rPr>
              <a:t>3. Progress After Interim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2" name="Google Shape;322;g35fdbe5dcb6_0_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62360" y="1511050"/>
            <a:ext cx="3095625" cy="3267075"/>
          </a:xfrm>
          <a:prstGeom prst="rect">
            <a:avLst/>
          </a:prstGeom>
          <a:noFill/>
          <a:ln>
            <a:noFill/>
          </a:ln>
          <a:effectLst/>
        </p:spPr>
      </p:pic>
      <p:cxnSp>
        <p:nvCxnSpPr>
          <p:cNvPr id="324" name="Google Shape;324;g35fdbe5dcb6_0_27"/>
          <p:cNvCxnSpPr/>
          <p:nvPr/>
        </p:nvCxnSpPr>
        <p:spPr>
          <a:xfrm>
            <a:off x="0" y="6676341"/>
            <a:ext cx="10129200" cy="0"/>
          </a:xfrm>
          <a:prstGeom prst="straightConnector1">
            <a:avLst/>
          </a:prstGeom>
          <a:noFill/>
          <a:ln w="19050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326" name="Google Shape;326;g35fdbe5dcb6_0_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4015" y="4740724"/>
            <a:ext cx="4837200" cy="157867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Google Shape;213;p13">
            <a:extLst>
              <a:ext uri="{FF2B5EF4-FFF2-40B4-BE49-F238E27FC236}">
                <a16:creationId xmlns:a16="http://schemas.microsoft.com/office/drawing/2014/main" id="{4C80A06D-6BAD-F431-479F-117EFB1F5A92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00000"/>
              </a:lnSpc>
              <a:buSzPts val="4000"/>
              <a:buFont typeface="Arial"/>
              <a:buNone/>
            </a:pPr>
            <a:r>
              <a:rPr lang="en-US" sz="4000" u="sng" dirty="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Arial"/>
              </a:rPr>
              <a:t>3. Progress After Interim</a:t>
            </a:r>
          </a:p>
        </p:txBody>
      </p:sp>
      <p:pic>
        <p:nvPicPr>
          <p:cNvPr id="6" name="그림 5" descr="텍스트, 스크린샷, 폰트, 번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99561E4A-E533-FAE2-2EB3-169A4B4F736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71066" y="5109550"/>
            <a:ext cx="6182588" cy="1209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335;g35fdbe5dcb6_0_3">
            <a:extLst>
              <a:ext uri="{FF2B5EF4-FFF2-40B4-BE49-F238E27FC236}">
                <a16:creationId xmlns:a16="http://schemas.microsoft.com/office/drawing/2014/main" id="{16E2E934-92E2-5504-2F8A-A29A74148530}"/>
              </a:ext>
            </a:extLst>
          </p:cNvPr>
          <p:cNvSpPr txBox="1">
            <a:spLocks/>
          </p:cNvSpPr>
          <p:nvPr/>
        </p:nvSpPr>
        <p:spPr>
          <a:xfrm>
            <a:off x="838199" y="1511050"/>
            <a:ext cx="10634100" cy="28727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tabLst/>
              <a:defRPr/>
            </a:pPr>
            <a:r>
              <a:rPr kumimoji="0" lang="en-US" altLang="ko-K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Arial"/>
              </a:rPr>
              <a:t>AU Extraction - </a:t>
            </a:r>
            <a:r>
              <a:rPr kumimoji="0" lang="en-US" altLang="ko-KR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Arial"/>
              </a:rPr>
              <a:t>LibreFace</a:t>
            </a:r>
            <a:r>
              <a:rPr kumimoji="0" lang="en-US" altLang="ko-K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Arial"/>
              </a:rPr>
              <a:t> </a:t>
            </a:r>
          </a:p>
          <a:p>
            <a:pPr marL="228600" marR="0" lvl="0" indent="-22860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-"/>
              <a:tabLst/>
              <a:defRPr/>
            </a:pPr>
            <a:r>
              <a:rPr kumimoji="0" lang="en-US" altLang="ko-KR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LibreFace</a:t>
            </a:r>
            <a:r>
              <a:rPr kumimoji="0" lang="en-US" altLang="ko-K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: An Open-Source Toolkit for Deep Facial Expression Analysis</a:t>
            </a:r>
          </a:p>
          <a:p>
            <a:pPr marL="685800" marR="0" lvl="1" indent="-22860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-"/>
              <a:tabLst/>
              <a:defRPr/>
            </a:pPr>
            <a:r>
              <a:rPr kumimoji="0" lang="ko-KR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얼굴 인식 → 정렬 → </a:t>
            </a:r>
            <a:r>
              <a:rPr kumimoji="0" lang="en-US" altLang="ko-K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CNN </a:t>
            </a:r>
            <a:r>
              <a:rPr kumimoji="0" lang="ko-KR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기반 딥러닝 모델에 적용 </a:t>
            </a:r>
          </a:p>
          <a:p>
            <a:pPr marL="685800" marR="0" lvl="1" indent="-22860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-"/>
              <a:tabLst/>
              <a:defRPr/>
            </a:pPr>
            <a:r>
              <a:rPr kumimoji="0" lang="en-US" altLang="ko-KR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LibreFace</a:t>
            </a:r>
            <a:r>
              <a:rPr kumimoji="0" lang="ko-KR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가 인식할 수 있는 </a:t>
            </a:r>
            <a:r>
              <a:rPr kumimoji="0" lang="en-US" altLang="ko-K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17</a:t>
            </a:r>
            <a:r>
              <a:rPr kumimoji="0" lang="ko-KR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개의 </a:t>
            </a:r>
            <a:r>
              <a:rPr kumimoji="0" lang="en-US" altLang="ko-K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AU Unit</a:t>
            </a:r>
            <a:r>
              <a:rPr kumimoji="0" lang="ko-KR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에 대해 </a:t>
            </a:r>
            <a:r>
              <a:rPr kumimoji="0" lang="en-US" altLang="ko-K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presence(binary)</a:t>
            </a:r>
            <a:r>
              <a:rPr kumimoji="0" lang="ko-KR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와</a:t>
            </a:r>
            <a:br>
              <a:rPr kumimoji="0" lang="en-US" altLang="ko-K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</a:br>
            <a:r>
              <a:rPr kumimoji="0" lang="en-US" altLang="ko-K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intensity(continuous) </a:t>
            </a:r>
            <a:r>
              <a:rPr kumimoji="0" lang="ko-KR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예측 </a:t>
            </a:r>
            <a:r>
              <a:rPr kumimoji="0" lang="en-US" altLang="ko-KR" sz="2000" b="0" i="0" u="none" strike="noStrike" kern="0" cap="none" spc="0" normalizeH="0" baseline="0" noProof="0" dirty="0">
                <a:ln>
                  <a:noFill/>
                </a:ln>
                <a:solidFill>
                  <a:srgbClr val="AEAEAE"/>
                </a:solidFill>
                <a:effectLst/>
                <a:uLnTx/>
                <a:uFillTx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(Table 2.) </a:t>
            </a:r>
            <a:r>
              <a:rPr kumimoji="0" lang="en-US" altLang="ko-K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→ </a:t>
            </a:r>
            <a:r>
              <a:rPr kumimoji="0" lang="ko-KR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총 </a:t>
            </a:r>
            <a:r>
              <a:rPr kumimoji="0" lang="en-US" altLang="ko-K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29-dimension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2" name="Google Shape;332;g35fdbe5dcb6_0_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96000" y="4445257"/>
            <a:ext cx="4724400" cy="195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g35fdbe5dcb6_0_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8198" y="4316670"/>
            <a:ext cx="4714875" cy="2209800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g35fdbe5dcb6_0_3"/>
          <p:cNvSpPr txBox="1">
            <a:spLocks noGrp="1"/>
          </p:cNvSpPr>
          <p:nvPr>
            <p:ph type="body" idx="1"/>
          </p:nvPr>
        </p:nvSpPr>
        <p:spPr>
          <a:xfrm>
            <a:off x="838199" y="1511050"/>
            <a:ext cx="106341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dirty="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Arial"/>
              </a:rPr>
              <a:t>AU Extraction - </a:t>
            </a:r>
            <a:r>
              <a:rPr lang="en-US" sz="2000" dirty="0" err="1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Arial"/>
              </a:rPr>
              <a:t>LibreFace</a:t>
            </a:r>
            <a:r>
              <a:rPr lang="en-US" sz="2000" dirty="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Arial"/>
              </a:rPr>
              <a:t> </a:t>
            </a:r>
          </a:p>
          <a:p>
            <a:pPr marL="228600" lvl="0" indent="-2286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-"/>
            </a:pPr>
            <a:r>
              <a:rPr lang="en-US" sz="18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기존의</a:t>
            </a:r>
            <a:r>
              <a:rPr lang="en-US" sz="18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 </a:t>
            </a:r>
            <a:r>
              <a:rPr lang="en-US" sz="18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OpenFace</a:t>
            </a:r>
            <a:r>
              <a:rPr lang="en-US" sz="18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 2.0(a facial behavior analysis toolkit) </a:t>
            </a:r>
            <a:r>
              <a:rPr lang="en-US" sz="18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툴보다</a:t>
            </a:r>
            <a:r>
              <a:rPr lang="en-US" sz="18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 </a:t>
            </a:r>
            <a:r>
              <a:rPr lang="en-US" sz="18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빠르고</a:t>
            </a:r>
            <a:r>
              <a:rPr lang="en-US" sz="18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 </a:t>
            </a:r>
            <a:r>
              <a:rPr lang="en-US" sz="18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정확하게</a:t>
            </a:r>
            <a:r>
              <a:rPr lang="en-US" sz="18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 AU </a:t>
            </a:r>
            <a:r>
              <a:rPr lang="en-US" sz="18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판별</a:t>
            </a:r>
            <a:r>
              <a:rPr lang="en-US" sz="18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 </a:t>
            </a:r>
            <a:r>
              <a:rPr lang="en-US" sz="18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가능</a:t>
            </a:r>
            <a:r>
              <a:rPr lang="en-US" sz="1800" dirty="0">
                <a:solidFill>
                  <a:srgbClr val="AEAEAE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(Table 7.)</a:t>
            </a:r>
            <a:endParaRPr sz="1800" dirty="0">
              <a:solidFill>
                <a:srgbClr val="AEAEAE"/>
              </a:solidFill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  <a:sym typeface="Arial"/>
            </a:endParaRPr>
          </a:p>
          <a:p>
            <a:pPr marL="228600" lvl="0" indent="-2286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Arial"/>
              <a:buChar char="-"/>
            </a:pPr>
            <a:r>
              <a:rPr lang="en-US" sz="18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딥러닝</a:t>
            </a:r>
            <a:r>
              <a:rPr lang="en-US" sz="18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 </a:t>
            </a:r>
            <a:r>
              <a:rPr lang="en-US" sz="18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기반으로</a:t>
            </a:r>
            <a:r>
              <a:rPr lang="en-US" sz="18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 </a:t>
            </a:r>
            <a:r>
              <a:rPr lang="en-US" sz="18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복잡한</a:t>
            </a:r>
            <a:r>
              <a:rPr lang="en-US" sz="18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 </a:t>
            </a:r>
            <a:r>
              <a:rPr lang="en-US" sz="18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얼굴</a:t>
            </a:r>
            <a:r>
              <a:rPr lang="en-US" sz="18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 </a:t>
            </a:r>
            <a:r>
              <a:rPr lang="en-US" sz="18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움직임</a:t>
            </a:r>
            <a:r>
              <a:rPr lang="en-US" sz="18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(micro-expression) </a:t>
            </a:r>
            <a:r>
              <a:rPr lang="en-US" sz="18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학습</a:t>
            </a:r>
            <a:r>
              <a:rPr lang="en-US" sz="18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 </a:t>
            </a:r>
            <a:r>
              <a:rPr lang="en-US" sz="18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가능</a:t>
            </a:r>
            <a:endParaRPr sz="18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  <a:sym typeface="Arial"/>
            </a:endParaRPr>
          </a:p>
          <a:p>
            <a:pPr marL="228600" lvl="0" indent="-2286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Arial"/>
              <a:buChar char="-"/>
            </a:pPr>
            <a:r>
              <a:rPr lang="en-US" sz="18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GPU를</a:t>
            </a:r>
            <a:r>
              <a:rPr lang="en-US" sz="18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 </a:t>
            </a:r>
            <a:r>
              <a:rPr lang="en-US" sz="18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사용</a:t>
            </a:r>
            <a:r>
              <a:rPr lang="ko-KR" altLang="en-US" sz="18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해</a:t>
            </a:r>
            <a:r>
              <a:rPr lang="en-US" sz="18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 </a:t>
            </a:r>
            <a:r>
              <a:rPr lang="en-US" sz="18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대량의</a:t>
            </a:r>
            <a:r>
              <a:rPr lang="en-US" sz="18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 apex frame </a:t>
            </a:r>
            <a:r>
              <a:rPr lang="en-US" sz="18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이미지</a:t>
            </a:r>
            <a:r>
              <a:rPr lang="en-US" sz="18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 </a:t>
            </a:r>
            <a:r>
              <a:rPr lang="ko-KR" altLang="en-US" sz="18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처리에</a:t>
            </a:r>
            <a:r>
              <a:rPr lang="en-US" sz="18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 </a:t>
            </a:r>
            <a:r>
              <a:rPr lang="en-US" sz="18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적합</a:t>
            </a:r>
            <a:r>
              <a:rPr lang="en-US" sz="18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 </a:t>
            </a:r>
            <a:r>
              <a:rPr lang="en-US" sz="1800" dirty="0">
                <a:solidFill>
                  <a:srgbClr val="AEAEAE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(Table 9.)</a:t>
            </a:r>
            <a:endParaRPr sz="1800" dirty="0">
              <a:solidFill>
                <a:srgbClr val="AEAEAE"/>
              </a:solidFill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  <a:sym typeface="Arial"/>
            </a:endParaRPr>
          </a:p>
          <a:p>
            <a:pPr marL="228600" lvl="0" indent="-2286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Arial"/>
              <a:buChar char="-"/>
            </a:pPr>
            <a:r>
              <a:rPr lang="en-US" sz="18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미세</a:t>
            </a:r>
            <a:r>
              <a:rPr lang="en-US" sz="18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 </a:t>
            </a:r>
            <a:r>
              <a:rPr lang="en-US" sz="18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표정을</a:t>
            </a:r>
            <a:r>
              <a:rPr lang="en-US" sz="18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 </a:t>
            </a:r>
            <a:r>
              <a:rPr lang="en-US" sz="18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기반으로</a:t>
            </a:r>
            <a:r>
              <a:rPr lang="en-US" sz="18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 liar </a:t>
            </a:r>
            <a:r>
              <a:rPr lang="en-US" sz="18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detection에</a:t>
            </a:r>
            <a:r>
              <a:rPr lang="en-US" sz="18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 </a:t>
            </a:r>
            <a:r>
              <a:rPr lang="en-US" sz="18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정량적인</a:t>
            </a:r>
            <a:r>
              <a:rPr lang="en-US" sz="18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 AU feature </a:t>
            </a:r>
            <a:r>
              <a:rPr lang="en-US" sz="18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제공</a:t>
            </a:r>
            <a:endParaRPr sz="18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  <a:sym typeface="Arial"/>
            </a:endParaRPr>
          </a:p>
        </p:txBody>
      </p:sp>
      <p:cxnSp>
        <p:nvCxnSpPr>
          <p:cNvPr id="336" name="Google Shape;336;g35fdbe5dcb6_0_3"/>
          <p:cNvCxnSpPr/>
          <p:nvPr/>
        </p:nvCxnSpPr>
        <p:spPr>
          <a:xfrm>
            <a:off x="0" y="6676341"/>
            <a:ext cx="10129200" cy="0"/>
          </a:xfrm>
          <a:prstGeom prst="straightConnector1">
            <a:avLst/>
          </a:prstGeom>
          <a:noFill/>
          <a:ln w="19050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" name="Google Shape;213;p13">
            <a:extLst>
              <a:ext uri="{FF2B5EF4-FFF2-40B4-BE49-F238E27FC236}">
                <a16:creationId xmlns:a16="http://schemas.microsoft.com/office/drawing/2014/main" id="{854F883B-E5D0-D060-E307-492F8AA06636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00000"/>
              </a:lnSpc>
              <a:buSzPts val="4000"/>
              <a:buFont typeface="Arial"/>
              <a:buNone/>
            </a:pPr>
            <a:r>
              <a:rPr lang="en-US" sz="4000" u="sng" dirty="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Arial"/>
              </a:rPr>
              <a:t>3. Progress After Interim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3" name="Google Shape;343;g35fdbe5dcb6_1_20"/>
          <p:cNvCxnSpPr/>
          <p:nvPr/>
        </p:nvCxnSpPr>
        <p:spPr>
          <a:xfrm>
            <a:off x="-22850" y="6676341"/>
            <a:ext cx="10129200" cy="0"/>
          </a:xfrm>
          <a:prstGeom prst="straightConnector1">
            <a:avLst/>
          </a:prstGeom>
          <a:noFill/>
          <a:ln w="19050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44" name="Google Shape;344;g35fdbe5dcb6_1_20"/>
          <p:cNvSpPr txBox="1">
            <a:spLocks noGrp="1"/>
          </p:cNvSpPr>
          <p:nvPr>
            <p:ph type="body" idx="1"/>
          </p:nvPr>
        </p:nvSpPr>
        <p:spPr>
          <a:xfrm>
            <a:off x="838200" y="1576243"/>
            <a:ext cx="106341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rPr lang="en-US" sz="2000" dirty="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Arial"/>
              </a:rPr>
              <a:t>Feature Extraction - TMFE</a:t>
            </a:r>
          </a:p>
          <a:p>
            <a:pPr marL="228600" lvl="0" indent="-2413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000"/>
              <a:buChar char="-"/>
            </a:pPr>
            <a:r>
              <a:rPr 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CNN Model: </a:t>
            </a:r>
            <a:r>
              <a:rPr 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ResNet</a:t>
            </a:r>
            <a:r>
              <a:rPr 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 18 Model + CVA Module</a:t>
            </a:r>
          </a:p>
          <a:p>
            <a:pPr marL="685800" lvl="1" indent="-241300">
              <a:lnSpc>
                <a:spcPct val="150000"/>
              </a:lnSpc>
              <a:spcBef>
                <a:spcPts val="1000"/>
              </a:spcBef>
              <a:buSzPts val="2000"/>
              <a:buChar char="-"/>
            </a:pPr>
            <a:r>
              <a:rPr 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Vertical한</a:t>
            </a:r>
            <a:r>
              <a:rPr 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 </a:t>
            </a:r>
            <a:r>
              <a:rPr 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특징을</a:t>
            </a:r>
            <a:r>
              <a:rPr 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 </a:t>
            </a:r>
            <a:r>
              <a:rPr 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강조하여</a:t>
            </a:r>
            <a:r>
              <a:rPr 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 </a:t>
            </a:r>
            <a:r>
              <a:rPr 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뽑기</a:t>
            </a:r>
            <a:r>
              <a:rPr 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 </a:t>
            </a:r>
            <a:r>
              <a:rPr 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위해</a:t>
            </a:r>
            <a:r>
              <a:rPr 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 각 layer 별 CVA Module </a:t>
            </a:r>
            <a:r>
              <a:rPr 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추가</a:t>
            </a:r>
            <a:endParaRPr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  <a:sym typeface="Arial"/>
            </a:endParaRPr>
          </a:p>
          <a:p>
            <a:pPr marL="228600" lvl="0" indent="-2413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Arial"/>
              <a:buChar char="-"/>
            </a:pPr>
            <a:r>
              <a:rPr 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Onset, Apex </a:t>
            </a:r>
            <a:r>
              <a:rPr 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Frame을</a:t>
            </a:r>
            <a:r>
              <a:rPr 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 element wise </a:t>
            </a:r>
            <a:r>
              <a:rPr 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subtraction하여</a:t>
            </a:r>
            <a:r>
              <a:rPr 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 </a:t>
            </a:r>
            <a:r>
              <a:rPr 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input으로</a:t>
            </a:r>
            <a:r>
              <a:rPr 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 </a:t>
            </a:r>
            <a:r>
              <a:rPr 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사용</a:t>
            </a:r>
            <a:endParaRPr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  <a:sym typeface="Arial"/>
            </a:endParaRPr>
          </a:p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  <a:sym typeface="Arial"/>
            </a:endParaRPr>
          </a:p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000" dirty="0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EADC7200-6337-5B71-B82F-9C56A58FFFC9}"/>
              </a:ext>
            </a:extLst>
          </p:cNvPr>
          <p:cNvGrpSpPr/>
          <p:nvPr/>
        </p:nvGrpSpPr>
        <p:grpSpPr>
          <a:xfrm>
            <a:off x="7713891" y="4048889"/>
            <a:ext cx="4116853" cy="2435874"/>
            <a:chOff x="7804597" y="4028675"/>
            <a:chExt cx="4116853" cy="2435874"/>
          </a:xfrm>
        </p:grpSpPr>
        <p:sp>
          <p:nvSpPr>
            <p:cNvPr id="351" name="Google Shape;351;g35fdbe5dcb6_1_20"/>
            <p:cNvSpPr txBox="1"/>
            <p:nvPr/>
          </p:nvSpPr>
          <p:spPr>
            <a:xfrm>
              <a:off x="9527033" y="4694955"/>
              <a:ext cx="6720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b="1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. . . </a:t>
              </a:r>
              <a:endParaRPr sz="2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52" name="Google Shape;352;g35fdbe5dcb6_1_20"/>
            <p:cNvCxnSpPr/>
            <p:nvPr/>
          </p:nvCxnSpPr>
          <p:spPr>
            <a:xfrm>
              <a:off x="7804597" y="5971490"/>
              <a:ext cx="0" cy="2229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dash"/>
              <a:miter lim="800000"/>
              <a:headEnd type="none" w="sm" len="sm"/>
              <a:tailEnd type="none" w="sm" len="sm"/>
            </a:ln>
          </p:spPr>
        </p:cxnSp>
        <p:cxnSp>
          <p:nvCxnSpPr>
            <p:cNvPr id="353" name="Google Shape;353;g35fdbe5dcb6_1_20"/>
            <p:cNvCxnSpPr/>
            <p:nvPr/>
          </p:nvCxnSpPr>
          <p:spPr>
            <a:xfrm>
              <a:off x="9192447" y="5974939"/>
              <a:ext cx="1329900" cy="2412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dash"/>
              <a:miter lim="800000"/>
              <a:headEnd type="none" w="sm" len="sm"/>
              <a:tailEnd type="none" w="sm" len="sm"/>
            </a:ln>
          </p:spPr>
        </p:cxnSp>
        <p:pic>
          <p:nvPicPr>
            <p:cNvPr id="354" name="Google Shape;354;g35fdbe5dcb6_1_2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804600" y="4028675"/>
              <a:ext cx="4116850" cy="76183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5" name="Google Shape;355;g35fdbe5dcb6_1_2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804600" y="5241597"/>
              <a:ext cx="4116849" cy="72989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6" name="Google Shape;356;g35fdbe5dcb6_1_2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7804600" y="6241649"/>
              <a:ext cx="2721665" cy="2229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CD82A82B-AE51-AA5E-E882-6AE75136BE39}"/>
              </a:ext>
            </a:extLst>
          </p:cNvPr>
          <p:cNvGrpSpPr/>
          <p:nvPr/>
        </p:nvGrpSpPr>
        <p:grpSpPr>
          <a:xfrm>
            <a:off x="342633" y="3985292"/>
            <a:ext cx="991134" cy="2553037"/>
            <a:chOff x="365054" y="3558288"/>
            <a:chExt cx="1246797" cy="3211594"/>
          </a:xfrm>
        </p:grpSpPr>
        <p:grpSp>
          <p:nvGrpSpPr>
            <p:cNvPr id="345" name="Google Shape;345;g35fdbe5dcb6_1_20"/>
            <p:cNvGrpSpPr/>
            <p:nvPr/>
          </p:nvGrpSpPr>
          <p:grpSpPr>
            <a:xfrm>
              <a:off x="365054" y="5387183"/>
              <a:ext cx="1080654" cy="1382699"/>
              <a:chOff x="2902526" y="3496357"/>
              <a:chExt cx="1080654" cy="1382699"/>
            </a:xfrm>
          </p:grpSpPr>
          <p:pic>
            <p:nvPicPr>
              <p:cNvPr id="346" name="Google Shape;346;g35fdbe5dcb6_1_20" descr="인간의 얼굴, 인간의 수염, 사람, 얼굴 털이(가) 표시된 사진&#10;&#10;AI가 생성한 콘텐츠는 부정확할 수 있습니다."/>
              <p:cNvPicPr preferRelativeResize="0"/>
              <p:nvPr/>
            </p:nvPicPr>
            <p:blipFill rotWithShape="1">
              <a:blip r:embed="rId6">
                <a:alphaModFix/>
              </a:blip>
              <a:srcRect/>
              <a:stretch/>
            </p:blipFill>
            <p:spPr>
              <a:xfrm>
                <a:off x="2902526" y="3496357"/>
                <a:ext cx="1080654" cy="1080654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7" name="Google Shape;347;g35fdbe5dcb6_1_20"/>
              <p:cNvSpPr txBox="1"/>
              <p:nvPr/>
            </p:nvSpPr>
            <p:spPr>
              <a:xfrm>
                <a:off x="2909454" y="4559694"/>
                <a:ext cx="1073700" cy="3193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50" b="1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Apex Frame</a:t>
                </a:r>
                <a:endParaRPr sz="1050" b="1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48" name="Google Shape;348;g35fdbe5dcb6_1_20"/>
            <p:cNvGrpSpPr/>
            <p:nvPr/>
          </p:nvGrpSpPr>
          <p:grpSpPr>
            <a:xfrm>
              <a:off x="382151" y="3558288"/>
              <a:ext cx="1229700" cy="1388431"/>
              <a:chOff x="2902526" y="1065370"/>
              <a:chExt cx="1229700" cy="1388431"/>
            </a:xfrm>
          </p:grpSpPr>
          <p:pic>
            <p:nvPicPr>
              <p:cNvPr id="349" name="Google Shape;349;g35fdbe5dcb6_1_20" descr="인간의 얼굴, 사람, 인간의 수염, 얼굴 털이(가) 표시된 사진&#10;&#10;AI가 생성한 콘텐츠는 부정확할 수 있습니다."/>
              <p:cNvPicPr preferRelativeResize="0"/>
              <p:nvPr/>
            </p:nvPicPr>
            <p:blipFill rotWithShape="1">
              <a:blip r:embed="rId7">
                <a:alphaModFix/>
              </a:blip>
              <a:srcRect/>
              <a:stretch/>
            </p:blipFill>
            <p:spPr>
              <a:xfrm>
                <a:off x="2902526" y="1373147"/>
                <a:ext cx="1080654" cy="1080654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50" name="Google Shape;350;g35fdbe5dcb6_1_20"/>
              <p:cNvSpPr txBox="1"/>
              <p:nvPr/>
            </p:nvSpPr>
            <p:spPr>
              <a:xfrm>
                <a:off x="2902526" y="1065370"/>
                <a:ext cx="1229700" cy="3290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00" b="1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Onset Frame</a:t>
                </a:r>
                <a:endParaRPr sz="1100" b="1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57" name="Google Shape;357;g35fdbe5dcb6_1_20"/>
            <p:cNvSpPr txBox="1"/>
            <p:nvPr/>
          </p:nvSpPr>
          <p:spPr>
            <a:xfrm>
              <a:off x="505916" y="4714444"/>
              <a:ext cx="801000" cy="68219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lvl="0" indent="0" algn="ctr" rtl="0">
                <a:lnSpc>
                  <a:spcPct val="150000"/>
                </a:lnSpc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lang="en-US" sz="2000" dirty="0">
                  <a:solidFill>
                    <a:schemeClr val="dk1"/>
                  </a:solidFill>
                </a:rPr>
                <a:t>⊖</a:t>
              </a:r>
              <a:endParaRPr sz="1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" name="그룹 5">
            <a:extLst>
              <a:ext uri="{FF2B5EF4-FFF2-40B4-BE49-F238E27FC236}">
                <a16:creationId xmlns:a16="http://schemas.microsoft.com/office/drawing/2014/main" id="{3E147AA4-0E34-C414-999B-B727198F38A1}"/>
              </a:ext>
            </a:extLst>
          </p:cNvPr>
          <p:cNvGrpSpPr/>
          <p:nvPr/>
        </p:nvGrpSpPr>
        <p:grpSpPr>
          <a:xfrm>
            <a:off x="1474950" y="4768953"/>
            <a:ext cx="6043701" cy="1325700"/>
            <a:chOff x="1611850" y="4200575"/>
            <a:chExt cx="6043701" cy="13257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pic>
          <p:nvPicPr>
            <p:cNvPr id="358" name="Google Shape;358;g35fdbe5dcb6_1_20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1611850" y="4200575"/>
              <a:ext cx="6043701" cy="1325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9" name="Google Shape;359;g35fdbe5dcb6_1_20"/>
            <p:cNvSpPr/>
            <p:nvPr/>
          </p:nvSpPr>
          <p:spPr>
            <a:xfrm rot="-5400000">
              <a:off x="3456975" y="5058175"/>
              <a:ext cx="545100" cy="1227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00"/>
                <a:t>CVA 1</a:t>
              </a:r>
              <a:endParaRPr sz="700"/>
            </a:p>
          </p:txBody>
        </p:sp>
        <p:sp>
          <p:nvSpPr>
            <p:cNvPr id="360" name="Google Shape;360;g35fdbe5dcb6_1_20"/>
            <p:cNvSpPr/>
            <p:nvPr/>
          </p:nvSpPr>
          <p:spPr>
            <a:xfrm rot="-5400000">
              <a:off x="4585850" y="5058175"/>
              <a:ext cx="545100" cy="1227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00"/>
                <a:t>CVA 2</a:t>
              </a:r>
              <a:endParaRPr sz="700"/>
            </a:p>
          </p:txBody>
        </p:sp>
        <p:sp>
          <p:nvSpPr>
            <p:cNvPr id="361" name="Google Shape;361;g35fdbe5dcb6_1_20"/>
            <p:cNvSpPr/>
            <p:nvPr/>
          </p:nvSpPr>
          <p:spPr>
            <a:xfrm rot="-5400000">
              <a:off x="5714725" y="5058175"/>
              <a:ext cx="545100" cy="1227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00"/>
                <a:t>CVA 3</a:t>
              </a:r>
              <a:endParaRPr sz="700"/>
            </a:p>
          </p:txBody>
        </p:sp>
        <p:sp>
          <p:nvSpPr>
            <p:cNvPr id="362" name="Google Shape;362;g35fdbe5dcb6_1_20"/>
            <p:cNvSpPr/>
            <p:nvPr/>
          </p:nvSpPr>
          <p:spPr>
            <a:xfrm rot="-5400000">
              <a:off x="6843600" y="5058175"/>
              <a:ext cx="545100" cy="1227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00"/>
                <a:t>CVA 4</a:t>
              </a:r>
              <a:endParaRPr sz="700"/>
            </a:p>
          </p:txBody>
        </p:sp>
        <p:cxnSp>
          <p:nvCxnSpPr>
            <p:cNvPr id="363" name="Google Shape;363;g35fdbe5dcb6_1_20"/>
            <p:cNvCxnSpPr>
              <a:stCxn id="359" idx="3"/>
              <a:endCxn id="360" idx="3"/>
            </p:cNvCxnSpPr>
            <p:nvPr/>
          </p:nvCxnSpPr>
          <p:spPr>
            <a:xfrm rot="-5400000" flipH="1">
              <a:off x="4293675" y="4282825"/>
              <a:ext cx="600" cy="1128900"/>
            </a:xfrm>
            <a:prstGeom prst="curvedConnector3">
              <a:avLst>
                <a:gd name="adj1" fmla="val -97283333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64" name="Google Shape;364;g35fdbe5dcb6_1_20"/>
            <p:cNvCxnSpPr/>
            <p:nvPr/>
          </p:nvCxnSpPr>
          <p:spPr>
            <a:xfrm rot="-5400000" flipH="1">
              <a:off x="5424713" y="4282825"/>
              <a:ext cx="600" cy="1128900"/>
            </a:xfrm>
            <a:prstGeom prst="curvedConnector3">
              <a:avLst>
                <a:gd name="adj1" fmla="val -97283333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65" name="Google Shape;365;g35fdbe5dcb6_1_20"/>
            <p:cNvCxnSpPr/>
            <p:nvPr/>
          </p:nvCxnSpPr>
          <p:spPr>
            <a:xfrm rot="-5400000" flipH="1">
              <a:off x="6553613" y="4282825"/>
              <a:ext cx="600" cy="1128900"/>
            </a:xfrm>
            <a:prstGeom prst="curvedConnector3">
              <a:avLst>
                <a:gd name="adj1" fmla="val -97283333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" name="Google Shape;213;p13">
            <a:extLst>
              <a:ext uri="{FF2B5EF4-FFF2-40B4-BE49-F238E27FC236}">
                <a16:creationId xmlns:a16="http://schemas.microsoft.com/office/drawing/2014/main" id="{9BD34A8F-358D-8E83-5209-A16F8073556B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00000"/>
              </a:lnSpc>
              <a:buSzPts val="4000"/>
              <a:buFont typeface="Arial"/>
              <a:buNone/>
            </a:pPr>
            <a:r>
              <a:rPr lang="en-US" sz="4000" u="sng" dirty="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Arial"/>
              </a:rPr>
              <a:t>3. Progress After Interim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72" name="Google Shape;372;g35fdbe5dcb6_1_64"/>
          <p:cNvCxnSpPr/>
          <p:nvPr/>
        </p:nvCxnSpPr>
        <p:spPr>
          <a:xfrm>
            <a:off x="-22850" y="6676341"/>
            <a:ext cx="10129200" cy="0"/>
          </a:xfrm>
          <a:prstGeom prst="straightConnector1">
            <a:avLst/>
          </a:prstGeom>
          <a:noFill/>
          <a:ln w="19050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73" name="Google Shape;373;g35fdbe5dcb6_1_64"/>
          <p:cNvSpPr txBox="1">
            <a:spLocks noGrp="1"/>
          </p:cNvSpPr>
          <p:nvPr>
            <p:ph type="body" idx="1"/>
          </p:nvPr>
        </p:nvSpPr>
        <p:spPr>
          <a:xfrm>
            <a:off x="838200" y="1576243"/>
            <a:ext cx="106341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rPr lang="en-US" sz="2000" dirty="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Arial"/>
              </a:rPr>
              <a:t>Feature Extraction - CVA Module</a:t>
            </a:r>
          </a:p>
          <a:p>
            <a:pPr marL="228600" lvl="0" indent="-2413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000"/>
              <a:buChar char="-"/>
            </a:pPr>
            <a:r>
              <a:rPr 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CVA: Continuous Vertical Attention</a:t>
            </a:r>
          </a:p>
          <a:p>
            <a:pPr marL="685800" lvl="1" indent="-241300">
              <a:lnSpc>
                <a:spcPct val="150000"/>
              </a:lnSpc>
              <a:spcBef>
                <a:spcPts val="1000"/>
              </a:spcBef>
              <a:buSzPts val="2000"/>
              <a:buChar char="-"/>
            </a:pPr>
            <a:r>
              <a:rPr 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micro </a:t>
            </a:r>
            <a:r>
              <a:rPr 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expression은</a:t>
            </a:r>
            <a:r>
              <a:rPr 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 </a:t>
            </a:r>
            <a:r>
              <a:rPr 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vertical한</a:t>
            </a:r>
            <a:r>
              <a:rPr 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 </a:t>
            </a:r>
            <a:r>
              <a:rPr 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특징에</a:t>
            </a:r>
            <a:r>
              <a:rPr 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 </a:t>
            </a:r>
            <a:r>
              <a:rPr 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크게</a:t>
            </a:r>
            <a:r>
              <a:rPr 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 </a:t>
            </a:r>
            <a:r>
              <a:rPr 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영향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을 받음</a:t>
            </a:r>
            <a:endParaRPr lang="en-US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  <a:sym typeface="Arial"/>
            </a:endParaRPr>
          </a:p>
          <a:p>
            <a:pPr marL="685800" lvl="1" indent="-241300">
              <a:lnSpc>
                <a:spcPct val="150000"/>
              </a:lnSpc>
              <a:spcBef>
                <a:spcPts val="1000"/>
              </a:spcBef>
              <a:buSzPts val="2000"/>
              <a:buChar char="-"/>
            </a:pPr>
            <a:r>
              <a:rPr 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Y Avg </a:t>
            </a:r>
            <a:r>
              <a:rPr 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Pool을</a:t>
            </a:r>
            <a:r>
              <a:rPr 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 </a:t>
            </a:r>
            <a:r>
              <a:rPr 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통해</a:t>
            </a:r>
            <a:r>
              <a:rPr 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 Vertical </a:t>
            </a:r>
            <a:r>
              <a:rPr 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Feature를</a:t>
            </a:r>
            <a:r>
              <a:rPr 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 </a:t>
            </a:r>
            <a:r>
              <a:rPr 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강화한</a:t>
            </a:r>
            <a:r>
              <a:rPr 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 attention map </a:t>
            </a:r>
            <a:r>
              <a:rPr 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제작</a:t>
            </a:r>
            <a:endParaRPr lang="en-US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  <a:sym typeface="Arial"/>
            </a:endParaRPr>
          </a:p>
          <a:p>
            <a:pPr marL="685800" lvl="1" indent="-241300">
              <a:lnSpc>
                <a:spcPct val="150000"/>
              </a:lnSpc>
              <a:spcBef>
                <a:spcPts val="1000"/>
              </a:spcBef>
              <a:buSzPts val="2000"/>
              <a:buChar char="-"/>
            </a:pPr>
            <a:r>
              <a:rPr 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이전</a:t>
            </a:r>
            <a:r>
              <a:rPr 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 attention </a:t>
            </a:r>
            <a:r>
              <a:rPr 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map과</a:t>
            </a:r>
            <a:r>
              <a:rPr 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 각 </a:t>
            </a:r>
            <a:r>
              <a:rPr 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layer를</a:t>
            </a:r>
            <a:r>
              <a:rPr 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 </a:t>
            </a:r>
            <a:r>
              <a:rPr 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거친</a:t>
            </a:r>
            <a:r>
              <a:rPr 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 </a:t>
            </a:r>
            <a:r>
              <a:rPr 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후의</a:t>
            </a:r>
            <a:r>
              <a:rPr 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 </a:t>
            </a:r>
            <a:r>
              <a:rPr 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data를</a:t>
            </a:r>
            <a:r>
              <a:rPr 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 </a:t>
            </a:r>
            <a:r>
              <a:rPr 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합쳐</a:t>
            </a:r>
            <a:r>
              <a:rPr 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 </a:t>
            </a:r>
            <a:r>
              <a:rPr 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다음</a:t>
            </a:r>
            <a:r>
              <a:rPr 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 attention </a:t>
            </a:r>
            <a:r>
              <a:rPr 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map을</a:t>
            </a:r>
            <a:r>
              <a:rPr 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 </a:t>
            </a:r>
            <a:r>
              <a:rPr 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제작</a:t>
            </a:r>
            <a:endParaRPr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  <a:sym typeface="Arial"/>
            </a:endParaRPr>
          </a:p>
          <a:p>
            <a:pPr marL="228600" lvl="0" indent="-2413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Arial"/>
              <a:buChar char="-"/>
            </a:pPr>
            <a:r>
              <a:rPr 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최종</a:t>
            </a:r>
            <a:r>
              <a:rPr 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 attention </a:t>
            </a:r>
            <a:r>
              <a:rPr 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map과</a:t>
            </a:r>
            <a:r>
              <a:rPr 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 </a:t>
            </a:r>
            <a:r>
              <a:rPr 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resnet의</a:t>
            </a:r>
            <a:r>
              <a:rPr 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 </a:t>
            </a:r>
            <a:r>
              <a:rPr 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결과를</a:t>
            </a:r>
            <a:r>
              <a:rPr 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 element-wise multiplication</a:t>
            </a:r>
            <a:endParaRPr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  <a:sym typeface="Arial"/>
            </a:endParaRPr>
          </a:p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000" dirty="0"/>
          </a:p>
        </p:txBody>
      </p:sp>
      <p:pic>
        <p:nvPicPr>
          <p:cNvPr id="374" name="Google Shape;374;g35fdbe5dcb6_1_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79037" y="5299805"/>
            <a:ext cx="6633925" cy="1255275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Google Shape;213;p13">
            <a:extLst>
              <a:ext uri="{FF2B5EF4-FFF2-40B4-BE49-F238E27FC236}">
                <a16:creationId xmlns:a16="http://schemas.microsoft.com/office/drawing/2014/main" id="{BF8840F5-1874-D356-41F6-4B46F0B3FF09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00000"/>
              </a:lnSpc>
              <a:buSzPts val="4000"/>
              <a:buFont typeface="Arial"/>
              <a:buNone/>
            </a:pPr>
            <a:r>
              <a:rPr lang="en-US" sz="4000" u="sng" dirty="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Arial"/>
              </a:rPr>
              <a:t>3. Progress After Interim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82" name="Google Shape;382;g35fdbe5dcb6_1_0"/>
          <p:cNvCxnSpPr/>
          <p:nvPr/>
        </p:nvCxnSpPr>
        <p:spPr>
          <a:xfrm>
            <a:off x="0" y="6676341"/>
            <a:ext cx="10129200" cy="0"/>
          </a:xfrm>
          <a:prstGeom prst="straightConnector1">
            <a:avLst/>
          </a:prstGeom>
          <a:noFill/>
          <a:ln w="19050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83" name="Google Shape;383;g35fdbe5dcb6_1_0"/>
          <p:cNvSpPr txBox="1">
            <a:spLocks noGrp="1"/>
          </p:cNvSpPr>
          <p:nvPr>
            <p:ph type="body" idx="1"/>
          </p:nvPr>
        </p:nvSpPr>
        <p:spPr>
          <a:xfrm>
            <a:off x="838200" y="1576243"/>
            <a:ext cx="106341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rPr lang="en-US" sz="2000" dirty="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Arial"/>
              </a:rPr>
              <a:t>Feature Extraction - FPF</a:t>
            </a:r>
          </a:p>
          <a:p>
            <a:pPr marL="228600" lvl="0" indent="-2413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000"/>
              <a:buChar char="-"/>
            </a:pPr>
            <a:r>
              <a:rPr 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CNN Model: </a:t>
            </a:r>
            <a:r>
              <a:rPr 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ResNet</a:t>
            </a:r>
            <a:r>
              <a:rPr 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 50 Model</a:t>
            </a:r>
            <a:endParaRPr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  <a:sym typeface="Arial"/>
            </a:endParaRPr>
          </a:p>
          <a:p>
            <a:pPr marL="228600" lvl="0" indent="-2413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000"/>
              <a:buChar char="-"/>
            </a:pPr>
            <a:r>
              <a:rPr 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Onset, Apex </a:t>
            </a:r>
            <a:r>
              <a:rPr 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Frame을</a:t>
            </a:r>
            <a:r>
              <a:rPr 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 </a:t>
            </a:r>
            <a:r>
              <a:rPr 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각각</a:t>
            </a:r>
            <a:r>
              <a:rPr 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 </a:t>
            </a:r>
            <a:r>
              <a:rPr 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넣어</a:t>
            </a:r>
            <a:r>
              <a:rPr 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 output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추출</a:t>
            </a:r>
            <a:r>
              <a:rPr 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 </a:t>
            </a:r>
            <a:r>
              <a:rPr kumimoji="0" lang="ko-KR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→ </a:t>
            </a:r>
            <a:r>
              <a:rPr 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element-wise addition</a:t>
            </a:r>
            <a:endParaRPr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  <a:sym typeface="Arial"/>
            </a:endParaRPr>
          </a:p>
          <a:p>
            <a:pPr marL="228600" lvl="0" indent="-2413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Arial"/>
              <a:buChar char="-"/>
            </a:pPr>
            <a:r>
              <a:rPr 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TMFE, </a:t>
            </a:r>
            <a:r>
              <a:rPr 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FPF의</a:t>
            </a:r>
            <a:r>
              <a:rPr 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 </a:t>
            </a:r>
            <a:r>
              <a:rPr 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결과를</a:t>
            </a:r>
            <a:r>
              <a:rPr 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 </a:t>
            </a:r>
            <a:r>
              <a:rPr 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concat하여</a:t>
            </a:r>
            <a:r>
              <a:rPr 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 classification </a:t>
            </a:r>
            <a:r>
              <a:rPr 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part로</a:t>
            </a:r>
            <a:r>
              <a:rPr 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전송</a:t>
            </a:r>
            <a:endParaRPr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  <a:sym typeface="Arial"/>
            </a:endParaRPr>
          </a:p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000" dirty="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4" name="Google Shape;384;g35fdbe5dcb6_1_0" descr="The Annotated ResNet-50. Explaining how ResNet-50 works and why… | by  Suvaditya Mukherjee | TDS Archive | Medium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83559" y="4494652"/>
            <a:ext cx="5780810" cy="186220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50EFE7D0-4490-69A2-632F-0AD5A94E80E3}"/>
              </a:ext>
            </a:extLst>
          </p:cNvPr>
          <p:cNvGrpSpPr/>
          <p:nvPr/>
        </p:nvGrpSpPr>
        <p:grpSpPr>
          <a:xfrm>
            <a:off x="405828" y="3915525"/>
            <a:ext cx="1134750" cy="2706543"/>
            <a:chOff x="399471" y="3627045"/>
            <a:chExt cx="1236628" cy="2949537"/>
          </a:xfrm>
        </p:grpSpPr>
        <p:grpSp>
          <p:nvGrpSpPr>
            <p:cNvPr id="385" name="Google Shape;385;g35fdbe5dcb6_1_0"/>
            <p:cNvGrpSpPr/>
            <p:nvPr/>
          </p:nvGrpSpPr>
          <p:grpSpPr>
            <a:xfrm>
              <a:off x="399471" y="5205445"/>
              <a:ext cx="1080654" cy="1371137"/>
              <a:chOff x="2902526" y="3496357"/>
              <a:chExt cx="1080654" cy="1371137"/>
            </a:xfrm>
          </p:grpSpPr>
          <p:pic>
            <p:nvPicPr>
              <p:cNvPr id="386" name="Google Shape;386;g35fdbe5dcb6_1_0" descr="인간의 얼굴, 인간의 수염, 사람, 얼굴 털이(가) 표시된 사진&#10;&#10;AI가 생성한 콘텐츠는 부정확할 수 있습니다."/>
              <p:cNvPicPr preferRelativeResize="0"/>
              <p:nvPr/>
            </p:nvPicPr>
            <p:blipFill rotWithShape="1">
              <a:blip r:embed="rId4">
                <a:alphaModFix/>
              </a:blip>
              <a:srcRect/>
              <a:stretch/>
            </p:blipFill>
            <p:spPr>
              <a:xfrm>
                <a:off x="2902526" y="3496357"/>
                <a:ext cx="1080654" cy="1080654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87" name="Google Shape;387;g35fdbe5dcb6_1_0"/>
              <p:cNvSpPr txBox="1"/>
              <p:nvPr/>
            </p:nvSpPr>
            <p:spPr>
              <a:xfrm>
                <a:off x="2909454" y="4559694"/>
                <a:ext cx="1073700" cy="307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 b="1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Apex Frame</a:t>
                </a:r>
                <a:endParaRPr sz="1200" b="1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88" name="Google Shape;388;g35fdbe5dcb6_1_0"/>
            <p:cNvGrpSpPr/>
            <p:nvPr/>
          </p:nvGrpSpPr>
          <p:grpSpPr>
            <a:xfrm>
              <a:off x="406399" y="3627045"/>
              <a:ext cx="1229700" cy="1388431"/>
              <a:chOff x="2902526" y="1065370"/>
              <a:chExt cx="1229700" cy="1388431"/>
            </a:xfrm>
          </p:grpSpPr>
          <p:pic>
            <p:nvPicPr>
              <p:cNvPr id="389" name="Google Shape;389;g35fdbe5dcb6_1_0" descr="인간의 얼굴, 사람, 인간의 수염, 얼굴 털이(가) 표시된 사진&#10;&#10;AI가 생성한 콘텐츠는 부정확할 수 있습니다."/>
              <p:cNvPicPr preferRelativeResize="0"/>
              <p:nvPr/>
            </p:nvPicPr>
            <p:blipFill rotWithShape="1">
              <a:blip r:embed="rId5">
                <a:alphaModFix/>
              </a:blip>
              <a:srcRect/>
              <a:stretch/>
            </p:blipFill>
            <p:spPr>
              <a:xfrm>
                <a:off x="2902526" y="1373147"/>
                <a:ext cx="1080654" cy="1080654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90" name="Google Shape;390;g35fdbe5dcb6_1_0"/>
              <p:cNvSpPr txBox="1"/>
              <p:nvPr/>
            </p:nvSpPr>
            <p:spPr>
              <a:xfrm>
                <a:off x="2902526" y="1065370"/>
                <a:ext cx="1229700" cy="307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400" b="1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Onset Frame</a:t>
                </a:r>
                <a:endParaRPr sz="1400" b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6" name="그룹 5">
            <a:extLst>
              <a:ext uri="{FF2B5EF4-FFF2-40B4-BE49-F238E27FC236}">
                <a16:creationId xmlns:a16="http://schemas.microsoft.com/office/drawing/2014/main" id="{D9CC6B5F-744A-52EE-B369-9E4723717109}"/>
              </a:ext>
            </a:extLst>
          </p:cNvPr>
          <p:cNvGrpSpPr/>
          <p:nvPr/>
        </p:nvGrpSpPr>
        <p:grpSpPr>
          <a:xfrm>
            <a:off x="7944117" y="3941446"/>
            <a:ext cx="3842055" cy="2680622"/>
            <a:chOff x="7824248" y="3727407"/>
            <a:chExt cx="4116925" cy="2872400"/>
          </a:xfrm>
        </p:grpSpPr>
        <p:sp>
          <p:nvSpPr>
            <p:cNvPr id="391" name="Google Shape;391;g35fdbe5dcb6_1_0"/>
            <p:cNvSpPr txBox="1"/>
            <p:nvPr/>
          </p:nvSpPr>
          <p:spPr>
            <a:xfrm>
              <a:off x="9546681" y="4464662"/>
              <a:ext cx="6720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b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. . . </a:t>
              </a:r>
              <a:endParaRPr sz="2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92" name="Google Shape;392;g35fdbe5dcb6_1_0"/>
            <p:cNvCxnSpPr/>
            <p:nvPr/>
          </p:nvCxnSpPr>
          <p:spPr>
            <a:xfrm>
              <a:off x="7824320" y="6136622"/>
              <a:ext cx="0" cy="2229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dash"/>
              <a:miter lim="800000"/>
              <a:headEnd type="none" w="sm" len="sm"/>
              <a:tailEnd type="none" w="sm" len="sm"/>
            </a:ln>
          </p:spPr>
        </p:cxnSp>
        <p:cxnSp>
          <p:nvCxnSpPr>
            <p:cNvPr id="393" name="Google Shape;393;g35fdbe5dcb6_1_0"/>
            <p:cNvCxnSpPr/>
            <p:nvPr/>
          </p:nvCxnSpPr>
          <p:spPr>
            <a:xfrm>
              <a:off x="9451223" y="6157207"/>
              <a:ext cx="907800" cy="2112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dash"/>
              <a:miter lim="800000"/>
              <a:headEnd type="none" w="sm" len="sm"/>
              <a:tailEnd type="none" w="sm" len="sm"/>
            </a:ln>
          </p:spPr>
        </p:cxnSp>
        <p:pic>
          <p:nvPicPr>
            <p:cNvPr id="394" name="Google Shape;394;g35fdbe5dcb6_1_0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7824323" y="3727407"/>
              <a:ext cx="4116850" cy="8567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95" name="Google Shape;395;g35fdbe5dcb6_1_0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7824248" y="5050657"/>
              <a:ext cx="4116850" cy="10949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96" name="Google Shape;396;g35fdbe5dcb6_1_0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7824322" y="6397607"/>
              <a:ext cx="2538733" cy="2022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" name="Google Shape;213;p13">
            <a:extLst>
              <a:ext uri="{FF2B5EF4-FFF2-40B4-BE49-F238E27FC236}">
                <a16:creationId xmlns:a16="http://schemas.microsoft.com/office/drawing/2014/main" id="{02F2AB38-286F-49B8-D4E8-DCEC67882CF2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00000"/>
              </a:lnSpc>
              <a:buSzPts val="4000"/>
              <a:buFont typeface="Arial"/>
              <a:buNone/>
            </a:pPr>
            <a:r>
              <a:rPr lang="en-US" sz="4000" u="sng" dirty="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Arial"/>
              </a:rPr>
              <a:t>3. Progress After Interim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2" name="Google Shape;402;g3617606bfdd_4_6"/>
          <p:cNvCxnSpPr/>
          <p:nvPr/>
        </p:nvCxnSpPr>
        <p:spPr>
          <a:xfrm>
            <a:off x="0" y="6676341"/>
            <a:ext cx="10129200" cy="0"/>
          </a:xfrm>
          <a:prstGeom prst="straightConnector1">
            <a:avLst/>
          </a:prstGeom>
          <a:noFill/>
          <a:ln w="19050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404" name="Google Shape;404;g3617606bfdd_4_6"/>
          <p:cNvSpPr txBox="1">
            <a:spLocks noGrp="1"/>
          </p:cNvSpPr>
          <p:nvPr>
            <p:ph type="body" idx="1"/>
          </p:nvPr>
        </p:nvSpPr>
        <p:spPr>
          <a:xfrm>
            <a:off x="838200" y="1576243"/>
            <a:ext cx="10634100" cy="21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dirty="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Arial"/>
              </a:rPr>
              <a:t>Binary Classification</a:t>
            </a:r>
          </a:p>
          <a:p>
            <a:pPr marL="228600" lvl="0" indent="-2286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-"/>
            </a:pPr>
            <a:r>
              <a:rPr 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Binary Classification: implement binary classification model with logistic regression</a:t>
            </a:r>
            <a:endParaRPr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  <a:sym typeface="Arial"/>
            </a:endParaRPr>
          </a:p>
          <a:p>
            <a:pPr marL="228600" lvl="0" indent="-2286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Arial"/>
              <a:buChar char="-"/>
            </a:pPr>
            <a:r>
              <a:rPr 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Input dim: 708 x 14 x 14 + 29 (concatenated features of FPF and TMFE + AU features)</a:t>
            </a:r>
            <a:endParaRPr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  <a:sym typeface="Arial"/>
            </a:endParaRPr>
          </a:p>
        </p:txBody>
      </p:sp>
      <p:pic>
        <p:nvPicPr>
          <p:cNvPr id="405" name="Google Shape;405;g3617606bfdd_4_6" descr="The AI model is designed with 8 input layers (counts and blood samples... |  Download Scientific Diagram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39957" y="3568661"/>
            <a:ext cx="4187825" cy="27885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6D11D71A-DFC2-46F3-8389-E0DBE745D5B1}"/>
              </a:ext>
            </a:extLst>
          </p:cNvPr>
          <p:cNvGrpSpPr/>
          <p:nvPr/>
        </p:nvGrpSpPr>
        <p:grpSpPr>
          <a:xfrm>
            <a:off x="719700" y="3983655"/>
            <a:ext cx="2583887" cy="1814686"/>
            <a:chOff x="380293" y="4143351"/>
            <a:chExt cx="2583887" cy="1814686"/>
          </a:xfrm>
        </p:grpSpPr>
        <p:pic>
          <p:nvPicPr>
            <p:cNvPr id="406" name="Google Shape;406;g3617606bfdd_4_6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380293" y="4143351"/>
              <a:ext cx="2583886" cy="75818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07" name="Google Shape;407;g3617606bfdd_4_6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380293" y="5303888"/>
              <a:ext cx="2583887" cy="65414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8" name="Google Shape;408;g3617606bfdd_4_6"/>
            <p:cNvSpPr txBox="1"/>
            <p:nvPr/>
          </p:nvSpPr>
          <p:spPr>
            <a:xfrm>
              <a:off x="1461311" y="4868092"/>
              <a:ext cx="421800" cy="58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. . . </a:t>
              </a:r>
              <a:endParaRPr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09" name="Google Shape;409;g3617606bfdd_4_6"/>
          <p:cNvSpPr/>
          <p:nvPr/>
        </p:nvSpPr>
        <p:spPr>
          <a:xfrm>
            <a:off x="3383872" y="4737096"/>
            <a:ext cx="775800" cy="3171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dk1"/>
          </a:solidFill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10" name="Google Shape;410;g3617606bfdd_4_6"/>
          <p:cNvSpPr/>
          <p:nvPr/>
        </p:nvSpPr>
        <p:spPr>
          <a:xfrm>
            <a:off x="8507936" y="4732449"/>
            <a:ext cx="775800" cy="3171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dk1"/>
          </a:solidFill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411" name="Google Shape;411;g3617606bfdd_4_6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363890" y="4333708"/>
            <a:ext cx="2276793" cy="111458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12" name="Google Shape;412;g3617606bfdd_4_6"/>
          <p:cNvCxnSpPr>
            <a:cxnSpLocks/>
          </p:cNvCxnSpPr>
          <p:nvPr/>
        </p:nvCxnSpPr>
        <p:spPr>
          <a:xfrm>
            <a:off x="9363890" y="5293396"/>
            <a:ext cx="198991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" name="Google Shape;213;p13">
            <a:extLst>
              <a:ext uri="{FF2B5EF4-FFF2-40B4-BE49-F238E27FC236}">
                <a16:creationId xmlns:a16="http://schemas.microsoft.com/office/drawing/2014/main" id="{4A2CF40B-1CAD-ADBB-2D99-15D383C1289D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00000"/>
              </a:lnSpc>
              <a:buSzPts val="4000"/>
              <a:buFont typeface="Arial"/>
              <a:buNone/>
            </a:pPr>
            <a:r>
              <a:rPr lang="en-US" sz="4000" u="sng" dirty="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Arial"/>
              </a:rPr>
              <a:t>3. Progress After Interim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19"/>
          <p:cNvSpPr txBox="1"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lang="en-US" sz="6000" u="sng" dirty="0">
                <a:solidFill>
                  <a:schemeClr val="dk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Arial"/>
              </a:rPr>
              <a:t>4. </a:t>
            </a:r>
            <a:r>
              <a:rPr lang="en-US" sz="6000" u="sng" dirty="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Arial"/>
              </a:rPr>
              <a:t>Evaluation</a:t>
            </a:r>
            <a:endParaRPr sz="6000" u="sng" dirty="0"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  <a:sym typeface="Arial"/>
            </a:endParaRPr>
          </a:p>
        </p:txBody>
      </p:sp>
      <p:cxnSp>
        <p:nvCxnSpPr>
          <p:cNvPr id="427" name="Google Shape;427;p19"/>
          <p:cNvCxnSpPr/>
          <p:nvPr/>
        </p:nvCxnSpPr>
        <p:spPr>
          <a:xfrm>
            <a:off x="0" y="6676341"/>
            <a:ext cx="10129101" cy="0"/>
          </a:xfrm>
          <a:prstGeom prst="straightConnector1">
            <a:avLst/>
          </a:prstGeom>
          <a:noFill/>
          <a:ln w="19050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35fdbe5dcb6_3_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-US" sz="4000" u="sng" dirty="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Arial"/>
              </a:rPr>
              <a:t>4. Evaluation</a:t>
            </a:r>
            <a:endParaRPr sz="4000" u="sng" dirty="0"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  <a:sym typeface="Arial"/>
            </a:endParaRPr>
          </a:p>
        </p:txBody>
      </p:sp>
      <p:cxnSp>
        <p:nvCxnSpPr>
          <p:cNvPr id="434" name="Google Shape;434;g35fdbe5dcb6_3_6"/>
          <p:cNvCxnSpPr/>
          <p:nvPr/>
        </p:nvCxnSpPr>
        <p:spPr>
          <a:xfrm>
            <a:off x="0" y="6676341"/>
            <a:ext cx="10129200" cy="0"/>
          </a:xfrm>
          <a:prstGeom prst="straightConnector1">
            <a:avLst/>
          </a:prstGeom>
          <a:noFill/>
          <a:ln w="19050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435" name="Google Shape;435;g35fdbe5dcb6_3_6"/>
          <p:cNvSpPr txBox="1"/>
          <p:nvPr/>
        </p:nvSpPr>
        <p:spPr>
          <a:xfrm>
            <a:off x="0" y="6676341"/>
            <a:ext cx="2448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[1] https://en.wikipedia.org/wiki/Microexpression</a:t>
            </a:r>
            <a:endParaRPr sz="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36" name="Google Shape;436;g35fdbe5dcb6_3_6"/>
          <p:cNvSpPr txBox="1">
            <a:spLocks noGrp="1"/>
          </p:cNvSpPr>
          <p:nvPr>
            <p:ph type="body" idx="1"/>
          </p:nvPr>
        </p:nvSpPr>
        <p:spPr>
          <a:xfrm>
            <a:off x="838200" y="1576243"/>
            <a:ext cx="106341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Tx/>
              <a:buChar char="-"/>
            </a:pPr>
            <a:r>
              <a:rPr 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Binary classification </a:t>
            </a:r>
            <a:r>
              <a:rPr 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성능</a:t>
            </a:r>
            <a:r>
              <a:rPr 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 </a:t>
            </a:r>
            <a:r>
              <a:rPr 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평가</a:t>
            </a:r>
            <a:r>
              <a:rPr 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: confusion </a:t>
            </a:r>
            <a:r>
              <a:rPr 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matrix와</a:t>
            </a:r>
            <a:r>
              <a:rPr 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 ROC curve </a:t>
            </a:r>
            <a:r>
              <a:rPr 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활용</a:t>
            </a:r>
            <a:endParaRPr lang="en-US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800100" lvl="1">
              <a:lnSpc>
                <a:spcPct val="150000"/>
              </a:lnSpc>
              <a:spcBef>
                <a:spcPts val="0"/>
              </a:spcBef>
              <a:buSzPts val="2000"/>
              <a:buFontTx/>
              <a:buChar char="-"/>
            </a:pPr>
            <a:r>
              <a:rPr 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Actual class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와</a:t>
            </a:r>
            <a:r>
              <a:rPr 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 prediction </a:t>
            </a:r>
            <a:r>
              <a:rPr 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비교해</a:t>
            </a:r>
            <a:r>
              <a:rPr 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 TP, TN, FP, FN </a:t>
            </a:r>
            <a:r>
              <a:rPr 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계산</a:t>
            </a:r>
            <a:br>
              <a:rPr 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</a:br>
            <a:r>
              <a:rPr kumimoji="0" lang="ko-KR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→</a:t>
            </a:r>
            <a:r>
              <a:rPr 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 confusion matrix </a:t>
            </a:r>
            <a:r>
              <a:rPr 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생성</a:t>
            </a:r>
            <a:r>
              <a:rPr 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 및 accuracy, precision, recall, f1 </a:t>
            </a:r>
            <a:r>
              <a:rPr 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계산</a:t>
            </a:r>
            <a:endParaRPr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  <a:sym typeface="Arial"/>
            </a:endParaRPr>
          </a:p>
          <a:p>
            <a:pPr marL="685800" lvl="1" indent="-228600">
              <a:lnSpc>
                <a:spcPct val="150000"/>
              </a:lnSpc>
              <a:spcBef>
                <a:spcPts val="1000"/>
              </a:spcBef>
              <a:buSzPts val="2000"/>
              <a:buFont typeface="Arial"/>
              <a:buChar char="-"/>
            </a:pPr>
            <a:r>
              <a:rPr 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TPR, FPR </a:t>
            </a:r>
            <a:r>
              <a:rPr 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계산</a:t>
            </a:r>
            <a:br>
              <a:rPr 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</a:br>
            <a:r>
              <a:rPr kumimoji="0" lang="ko-KR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→</a:t>
            </a:r>
            <a:r>
              <a:rPr 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 ROC curve </a:t>
            </a:r>
            <a:r>
              <a:rPr 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생성</a:t>
            </a:r>
            <a:r>
              <a:rPr 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 및 AUC score </a:t>
            </a:r>
            <a:r>
              <a:rPr 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계산</a:t>
            </a:r>
            <a:endParaRPr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  <a:sym typeface="Arial"/>
            </a:endParaRPr>
          </a:p>
          <a:p>
            <a:pPr marL="342900" lvl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Tx/>
              <a:buChar char="-"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시각화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: </a:t>
            </a:r>
            <a:r>
              <a:rPr 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Confusion matrix, ROC curve </a:t>
            </a:r>
            <a:r>
              <a:rPr 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Arial"/>
              </a:rPr>
              <a:t>시각화</a:t>
            </a:r>
            <a:endParaRPr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43" name="Google Shape;443;g35fdbe5dcb6_3_21"/>
          <p:cNvCxnSpPr/>
          <p:nvPr/>
        </p:nvCxnSpPr>
        <p:spPr>
          <a:xfrm>
            <a:off x="0" y="6676341"/>
            <a:ext cx="10129200" cy="0"/>
          </a:xfrm>
          <a:prstGeom prst="straightConnector1">
            <a:avLst/>
          </a:prstGeom>
          <a:noFill/>
          <a:ln w="19050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444" name="Google Shape;444;g35fdbe5dcb6_3_21"/>
          <p:cNvSpPr txBox="1"/>
          <p:nvPr/>
        </p:nvSpPr>
        <p:spPr>
          <a:xfrm>
            <a:off x="0" y="6676341"/>
            <a:ext cx="2448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[1] https://en.wikipedia.org/wiki/Microexpression</a:t>
            </a:r>
            <a:endParaRPr sz="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45" name="Google Shape;445;g35fdbe5dcb6_3_21"/>
          <p:cNvSpPr txBox="1">
            <a:spLocks noGrp="1"/>
          </p:cNvSpPr>
          <p:nvPr>
            <p:ph type="body" idx="1"/>
          </p:nvPr>
        </p:nvSpPr>
        <p:spPr>
          <a:xfrm>
            <a:off x="5532581" y="1576250"/>
            <a:ext cx="5939693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-"/>
            </a:pPr>
            <a:r>
              <a:rPr lang="en-US" sz="2000" dirty="0">
                <a:latin typeface="Arial"/>
                <a:ea typeface="Arial"/>
                <a:cs typeface="Arial"/>
                <a:sym typeface="Arial"/>
              </a:rPr>
              <a:t>TP: 23, FN: 1, FP: 4, TN: 20</a:t>
            </a:r>
            <a:endParaRPr sz="20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-"/>
            </a:pPr>
            <a:r>
              <a:rPr lang="en-US" sz="2000" dirty="0">
                <a:latin typeface="Arial"/>
                <a:ea typeface="Arial"/>
                <a:cs typeface="Arial"/>
                <a:sym typeface="Arial"/>
              </a:rPr>
              <a:t>Accuracy = 0.8958</a:t>
            </a:r>
          </a:p>
          <a:p>
            <a:pPr marL="914400" lvl="1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-"/>
            </a:pPr>
            <a:r>
              <a:rPr lang="en-US" sz="1500" dirty="0">
                <a:solidFill>
                  <a:schemeClr val="tx2">
                    <a:lumMod val="75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How many data were correctly predicted?</a:t>
            </a:r>
          </a:p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-"/>
            </a:pPr>
            <a:r>
              <a:rPr lang="en-US" sz="2000" dirty="0">
                <a:latin typeface="Arial"/>
                <a:ea typeface="Arial"/>
                <a:cs typeface="Arial"/>
                <a:sym typeface="Arial"/>
              </a:rPr>
              <a:t>Precision = 0.8519</a:t>
            </a:r>
            <a:endParaRPr sz="2000" dirty="0">
              <a:latin typeface="Arial"/>
              <a:ea typeface="Arial"/>
              <a:cs typeface="Arial"/>
              <a:sym typeface="Arial"/>
            </a:endParaRPr>
          </a:p>
          <a:p>
            <a:pPr marL="914400" lvl="1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-"/>
            </a:pPr>
            <a:r>
              <a:rPr lang="en-US" sz="1500" dirty="0">
                <a:solidFill>
                  <a:schemeClr val="tx2">
                    <a:lumMod val="75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How many data predicted as positive were correct?</a:t>
            </a:r>
            <a:endParaRPr sz="1500" dirty="0">
              <a:solidFill>
                <a:schemeClr val="tx2">
                  <a:lumMod val="75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-"/>
            </a:pPr>
            <a:r>
              <a:rPr lang="en-US" sz="2000" dirty="0">
                <a:latin typeface="Arial"/>
                <a:ea typeface="Arial"/>
                <a:cs typeface="Arial"/>
                <a:sym typeface="Arial"/>
              </a:rPr>
              <a:t>Recall = 0.9583</a:t>
            </a:r>
            <a:endParaRPr sz="2000" dirty="0">
              <a:latin typeface="Arial"/>
              <a:ea typeface="Arial"/>
              <a:cs typeface="Arial"/>
              <a:sym typeface="Arial"/>
            </a:endParaRPr>
          </a:p>
          <a:p>
            <a:pPr marL="914400" lvl="1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-"/>
            </a:pPr>
            <a:r>
              <a:rPr lang="en-US" sz="1500" dirty="0">
                <a:solidFill>
                  <a:schemeClr val="tx2">
                    <a:lumMod val="75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How many data of the actual positive class were correctly predicted?</a:t>
            </a:r>
            <a:endParaRPr sz="1500" dirty="0">
              <a:solidFill>
                <a:schemeClr val="tx2">
                  <a:lumMod val="75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-"/>
            </a:pPr>
            <a:r>
              <a:rPr lang="en-US" sz="2000" dirty="0">
                <a:latin typeface="Arial"/>
                <a:ea typeface="Arial"/>
                <a:cs typeface="Arial"/>
                <a:sym typeface="Arial"/>
              </a:rPr>
              <a:t>F1 score = 0.9020</a:t>
            </a:r>
            <a:endParaRPr sz="2000" dirty="0">
              <a:latin typeface="Arial"/>
              <a:ea typeface="Arial"/>
              <a:cs typeface="Arial"/>
              <a:sym typeface="Arial"/>
            </a:endParaRPr>
          </a:p>
          <a:p>
            <a:pPr marL="914400" lvl="1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-"/>
            </a:pPr>
            <a:r>
              <a:rPr lang="en-US" sz="1500" dirty="0">
                <a:solidFill>
                  <a:schemeClr val="tx2">
                    <a:lumMod val="75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How well did it predict the positive class in general?</a:t>
            </a:r>
            <a:endParaRPr sz="1500" dirty="0">
              <a:solidFill>
                <a:schemeClr val="tx2">
                  <a:lumMod val="75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46" name="Google Shape;446;g35fdbe5dcb6_3_21"/>
          <p:cNvPicPr preferRelativeResize="0"/>
          <p:nvPr/>
        </p:nvPicPr>
        <p:blipFill>
          <a:blip r:embed="rId3"/>
          <a:srcRect t="5729" b="5729"/>
          <a:stretch/>
        </p:blipFill>
        <p:spPr>
          <a:xfrm>
            <a:off x="579025" y="1792125"/>
            <a:ext cx="4699750" cy="3919451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4" name="Google Shape;433;g35fdbe5dcb6_3_6">
            <a:extLst>
              <a:ext uri="{FF2B5EF4-FFF2-40B4-BE49-F238E27FC236}">
                <a16:creationId xmlns:a16="http://schemas.microsoft.com/office/drawing/2014/main" id="{DCE5D957-F31B-86E4-D416-EFBAE208D89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-US" sz="4000" u="sng" dirty="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Arial"/>
              </a:rPr>
              <a:t>4. Evaluation</a:t>
            </a:r>
            <a:endParaRPr sz="4000" u="sng" dirty="0"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3" name="Google Shape;453;g3617606bfdd_2_0"/>
          <p:cNvCxnSpPr/>
          <p:nvPr/>
        </p:nvCxnSpPr>
        <p:spPr>
          <a:xfrm>
            <a:off x="0" y="6676341"/>
            <a:ext cx="10129200" cy="0"/>
          </a:xfrm>
          <a:prstGeom prst="straightConnector1">
            <a:avLst/>
          </a:prstGeom>
          <a:noFill/>
          <a:ln w="19050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454" name="Google Shape;454;g3617606bfdd_2_0"/>
          <p:cNvSpPr txBox="1"/>
          <p:nvPr/>
        </p:nvSpPr>
        <p:spPr>
          <a:xfrm>
            <a:off x="0" y="6676341"/>
            <a:ext cx="2448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[1] https://en.wikipedia.org/wiki/Microexpression</a:t>
            </a:r>
            <a:endParaRPr sz="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4FB8EB45-EB20-8808-3483-85D70F8277B4}"/>
              </a:ext>
            </a:extLst>
          </p:cNvPr>
          <p:cNvGrpSpPr/>
          <p:nvPr/>
        </p:nvGrpSpPr>
        <p:grpSpPr>
          <a:xfrm>
            <a:off x="3081364" y="1690825"/>
            <a:ext cx="6029271" cy="4460845"/>
            <a:chOff x="3447238" y="1792113"/>
            <a:chExt cx="5297524" cy="3919451"/>
          </a:xfrm>
        </p:grpSpPr>
        <p:pic>
          <p:nvPicPr>
            <p:cNvPr id="455" name="Google Shape;455;g3617606bfdd_2_0"/>
            <p:cNvPicPr preferRelativeResize="0"/>
            <p:nvPr/>
          </p:nvPicPr>
          <p:blipFill>
            <a:blip r:embed="rId3"/>
            <a:srcRect t="5183" b="5183"/>
            <a:stretch/>
          </p:blipFill>
          <p:spPr>
            <a:xfrm>
              <a:off x="3447238" y="1792113"/>
              <a:ext cx="5297524" cy="3919451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456" name="Google Shape;456;g3617606bfdd_2_0"/>
            <p:cNvSpPr/>
            <p:nvPr/>
          </p:nvSpPr>
          <p:spPr>
            <a:xfrm>
              <a:off x="6967650" y="5005428"/>
              <a:ext cx="1206000" cy="215400"/>
            </a:xfrm>
            <a:prstGeom prst="rect">
              <a:avLst/>
            </a:prstGeom>
            <a:noFill/>
            <a:ln w="28575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6" name="Google Shape;433;g35fdbe5dcb6_3_6">
            <a:extLst>
              <a:ext uri="{FF2B5EF4-FFF2-40B4-BE49-F238E27FC236}">
                <a16:creationId xmlns:a16="http://schemas.microsoft.com/office/drawing/2014/main" id="{8770A9B6-3746-6558-88F9-65CC50D3AD7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-US" sz="4000" u="sng" dirty="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Arial"/>
              </a:rPr>
              <a:t>4. Evaluation</a:t>
            </a:r>
            <a:endParaRPr sz="4000" u="sng" dirty="0"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>
          <a:extLst>
            <a:ext uri="{FF2B5EF4-FFF2-40B4-BE49-F238E27FC236}">
              <a16:creationId xmlns:a16="http://schemas.microsoft.com/office/drawing/2014/main" id="{23879B55-A348-0928-B9F2-00E8C5B8B9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>
            <a:extLst>
              <a:ext uri="{FF2B5EF4-FFF2-40B4-BE49-F238E27FC236}">
                <a16:creationId xmlns:a16="http://schemas.microsoft.com/office/drawing/2014/main" id="{9B3567DD-A02B-74B5-42FA-97D9B912A6B0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lang="en-US" dirty="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Arial"/>
              </a:rPr>
              <a:t>Thanks for listening</a:t>
            </a:r>
            <a:endParaRPr dirty="0"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  <a:sym typeface="Arial"/>
            </a:endParaRPr>
          </a:p>
        </p:txBody>
      </p:sp>
      <p:sp>
        <p:nvSpPr>
          <p:cNvPr id="90" name="Google Shape;90;p1">
            <a:extLst>
              <a:ext uri="{FF2B5EF4-FFF2-40B4-BE49-F238E27FC236}">
                <a16:creationId xmlns:a16="http://schemas.microsoft.com/office/drawing/2014/main" id="{5D88FECD-C354-FC37-B150-E74FE8F8F568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472600" y="3602013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 sz="1600" dirty="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  <a:sym typeface="Arial"/>
              </a:rPr>
              <a:t>ISOO</a:t>
            </a:r>
            <a:endParaRPr dirty="0"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cxnSp>
        <p:nvCxnSpPr>
          <p:cNvPr id="91" name="Google Shape;91;p1">
            <a:extLst>
              <a:ext uri="{FF2B5EF4-FFF2-40B4-BE49-F238E27FC236}">
                <a16:creationId xmlns:a16="http://schemas.microsoft.com/office/drawing/2014/main" id="{91EACF2B-17DE-ACC5-1FCA-B30AFD6772B7}"/>
              </a:ext>
            </a:extLst>
          </p:cNvPr>
          <p:cNvCxnSpPr/>
          <p:nvPr/>
        </p:nvCxnSpPr>
        <p:spPr>
          <a:xfrm>
            <a:off x="1524000" y="3509963"/>
            <a:ext cx="9144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93" name="Google Shape;93;p1">
            <a:extLst>
              <a:ext uri="{FF2B5EF4-FFF2-40B4-BE49-F238E27FC236}">
                <a16:creationId xmlns:a16="http://schemas.microsoft.com/office/drawing/2014/main" id="{2B5FE15E-8858-C1FB-C42E-123D0AD76E00}"/>
              </a:ext>
            </a:extLst>
          </p:cNvPr>
          <p:cNvCxnSpPr/>
          <p:nvPr/>
        </p:nvCxnSpPr>
        <p:spPr>
          <a:xfrm>
            <a:off x="0" y="6676341"/>
            <a:ext cx="10129101" cy="0"/>
          </a:xfrm>
          <a:prstGeom prst="straightConnector1">
            <a:avLst/>
          </a:prstGeom>
          <a:noFill/>
          <a:ln w="19050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94" name="Google Shape;94;p1">
            <a:extLst>
              <a:ext uri="{FF2B5EF4-FFF2-40B4-BE49-F238E27FC236}">
                <a16:creationId xmlns:a16="http://schemas.microsoft.com/office/drawing/2014/main" id="{4F6D977E-B73A-843B-C427-1460A29530AB}"/>
              </a:ext>
            </a:extLst>
          </p:cNvPr>
          <p:cNvSpPr txBox="1"/>
          <p:nvPr/>
        </p:nvSpPr>
        <p:spPr>
          <a:xfrm>
            <a:off x="8234300" y="3917425"/>
            <a:ext cx="23823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 err="1">
                <a:solidFill>
                  <a:schemeClr val="dk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  <a:sym typeface="Malgun Gothic"/>
              </a:rPr>
              <a:t>김준하</a:t>
            </a:r>
            <a:r>
              <a:rPr lang="en-US" sz="1000" dirty="0">
                <a:solidFill>
                  <a:schemeClr val="dk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  <a:sym typeface="Malgun Gothic"/>
              </a:rPr>
              <a:t>, </a:t>
            </a:r>
            <a:r>
              <a:rPr lang="en-US" sz="1000" dirty="0" err="1">
                <a:solidFill>
                  <a:schemeClr val="dk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  <a:sym typeface="Malgun Gothic"/>
              </a:rPr>
              <a:t>노윤헌</a:t>
            </a:r>
            <a:r>
              <a:rPr lang="en-US" sz="1000" dirty="0">
                <a:solidFill>
                  <a:schemeClr val="dk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  <a:sym typeface="Malgun Gothic"/>
              </a:rPr>
              <a:t>, </a:t>
            </a:r>
            <a:r>
              <a:rPr lang="en-US" sz="1000" dirty="0" err="1">
                <a:solidFill>
                  <a:schemeClr val="dk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  <a:sym typeface="Malgun Gothic"/>
              </a:rPr>
              <a:t>윤지현</a:t>
            </a:r>
            <a:r>
              <a:rPr lang="en-US" sz="1000" dirty="0">
                <a:solidFill>
                  <a:schemeClr val="dk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  <a:sym typeface="Malgun Gothic"/>
              </a:rPr>
              <a:t>, </a:t>
            </a:r>
            <a:r>
              <a:rPr lang="en-US" sz="1000" dirty="0" err="1">
                <a:solidFill>
                  <a:schemeClr val="dk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  <a:sym typeface="Malgun Gothic"/>
              </a:rPr>
              <a:t>조해나</a:t>
            </a:r>
            <a:r>
              <a:rPr lang="en-US" sz="1000" dirty="0">
                <a:solidFill>
                  <a:schemeClr val="dk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  <a:sym typeface="Malgun Gothic"/>
              </a:rPr>
              <a:t>, </a:t>
            </a:r>
            <a:r>
              <a:rPr lang="en-US" sz="1000" dirty="0" err="1">
                <a:solidFill>
                  <a:schemeClr val="dk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  <a:sym typeface="Malgun Gothic"/>
              </a:rPr>
              <a:t>최우석</a:t>
            </a:r>
            <a:endParaRPr sz="1000" dirty="0">
              <a:solidFill>
                <a:schemeClr val="dk1"/>
              </a:solidFill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162120907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-US" sz="4000" u="sng" dirty="0">
                <a:solidFill>
                  <a:schemeClr val="dk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  <a:sym typeface="Arial"/>
              </a:rPr>
              <a:t>Reference</a:t>
            </a:r>
            <a:endParaRPr sz="4000" u="sng" dirty="0"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  <a:sym typeface="Arial"/>
            </a:endParaRPr>
          </a:p>
        </p:txBody>
      </p:sp>
      <p:cxnSp>
        <p:nvCxnSpPr>
          <p:cNvPr id="473" name="Google Shape;473;p21"/>
          <p:cNvCxnSpPr/>
          <p:nvPr/>
        </p:nvCxnSpPr>
        <p:spPr>
          <a:xfrm>
            <a:off x="0" y="6676341"/>
            <a:ext cx="10129101" cy="0"/>
          </a:xfrm>
          <a:prstGeom prst="straightConnector1">
            <a:avLst/>
          </a:prstGeom>
          <a:noFill/>
          <a:ln w="19050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474" name="Google Shape;474;p21"/>
          <p:cNvSpPr txBox="1">
            <a:spLocks noGrp="1"/>
          </p:cNvSpPr>
          <p:nvPr>
            <p:ph type="body" idx="1"/>
          </p:nvPr>
        </p:nvSpPr>
        <p:spPr>
          <a:xfrm>
            <a:off x="838199" y="1825625"/>
            <a:ext cx="10634221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Char char="-"/>
            </a:pPr>
            <a:r>
              <a:rPr lang="en-US" sz="1400" u="sng">
                <a:solidFill>
                  <a:schemeClr val="hlink"/>
                </a:solidFill>
                <a:hlinkClick r:id="rId3"/>
              </a:rPr>
              <a:t>https://en.wikipedia.org/wiki/Microexpression</a:t>
            </a:r>
            <a:endParaRPr sz="1400"/>
          </a:p>
          <a:p>
            <a:pPr marL="228600" lvl="0" indent="-2286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Char char="-"/>
            </a:pPr>
            <a:r>
              <a:rPr lang="en-US" sz="1400" u="sng">
                <a:solidFill>
                  <a:schemeClr val="hlink"/>
                </a:solidFill>
                <a:hlinkClick r:id="rId4"/>
              </a:rPr>
              <a:t>https://www.kaggle.com/search?q=FER+in%3Adatasets</a:t>
            </a:r>
            <a:endParaRPr sz="1400"/>
          </a:p>
          <a:p>
            <a:pPr marL="228600" lvl="0" indent="-2286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Char char="-"/>
            </a:pPr>
            <a:r>
              <a:rPr lang="en-US" sz="1400" u="sng">
                <a:solidFill>
                  <a:schemeClr val="hlink"/>
                </a:solidFill>
                <a:hlinkClick r:id="rId5"/>
              </a:rPr>
              <a:t>https://www.kaggle.com/search?q=Micro-expression+in%3Adatasets</a:t>
            </a:r>
            <a:endParaRPr sz="1400"/>
          </a:p>
          <a:p>
            <a:pPr marL="228600" lvl="0" indent="-2286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Char char="-"/>
            </a:pPr>
            <a:r>
              <a:rPr lang="en-US" sz="1400" u="sng">
                <a:solidFill>
                  <a:schemeClr val="hlink"/>
                </a:solidFill>
                <a:hlinkClick r:id="rId6"/>
              </a:rPr>
              <a:t>https://paperswithcode.com/task/facial-expression-recognition</a:t>
            </a:r>
            <a:endParaRPr sz="1400"/>
          </a:p>
          <a:p>
            <a:pPr marL="228600" lvl="0" indent="-2286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Char char="-"/>
            </a:pPr>
            <a:r>
              <a:rPr lang="en-US" sz="1400" u="sng">
                <a:solidFill>
                  <a:schemeClr val="hlink"/>
                </a:solidFill>
                <a:hlinkClick r:id="rId7"/>
              </a:rPr>
              <a:t>https://paperswithcode.com/task/micro-expression-recognition</a:t>
            </a:r>
            <a:endParaRPr sz="1400"/>
          </a:p>
          <a:p>
            <a:pPr marL="228600" lvl="0" indent="-2286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Char char="-"/>
            </a:pPr>
            <a:r>
              <a:rPr lang="en-US" sz="1400" u="sng">
                <a:solidFill>
                  <a:schemeClr val="hlink"/>
                </a:solidFill>
                <a:hlinkClick r:id="rId8"/>
              </a:rPr>
              <a:t>https://openreview.net/pdf?id=mHYkcQzdae</a:t>
            </a:r>
            <a:endParaRPr sz="1400"/>
          </a:p>
          <a:p>
            <a:pPr marL="228600" lvl="0" indent="-2286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Char char="-"/>
            </a:pPr>
            <a:r>
              <a:rPr lang="en-US" sz="1400" u="sng">
                <a:solidFill>
                  <a:schemeClr val="hlink"/>
                </a:solidFill>
                <a:hlinkClick r:id="rId9"/>
              </a:rPr>
              <a:t>https://ai.google.dev/edge/mediapipe/solutions/vision/face_landmarker?hl=ko</a:t>
            </a:r>
            <a:endParaRPr sz="1400"/>
          </a:p>
          <a:p>
            <a:pPr marL="228600" lvl="0" indent="-2286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Char char="-"/>
            </a:pPr>
            <a:r>
              <a:rPr lang="en-US" sz="1400" u="sng">
                <a:solidFill>
                  <a:schemeClr val="hlink"/>
                </a:solidFill>
                <a:hlinkClick r:id="rId10"/>
              </a:rPr>
              <a:t>https://github.com/ihp-lab/LibreFace/tree/main/AU_Detectio</a:t>
            </a:r>
            <a:r>
              <a:rPr lang="en-US" sz="1400" u="sng">
                <a:solidFill>
                  <a:schemeClr val="hlink"/>
                </a:solidFill>
                <a:hlinkClick r:id="rId10"/>
              </a:rPr>
              <a:t>n</a:t>
            </a:r>
            <a:endParaRPr sz="1400"/>
          </a:p>
          <a:p>
            <a:pPr marL="228600" lvl="0" indent="-2286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400"/>
              <a:buChar char="-"/>
            </a:pPr>
            <a:r>
              <a:rPr lang="en-US" sz="1400" u="sng">
                <a:solidFill>
                  <a:schemeClr val="hlink"/>
                </a:solidFill>
                <a:hlinkClick r:id="rId11"/>
              </a:rPr>
              <a:t>https://arxiv.org/abs/2308.10713</a:t>
            </a:r>
            <a:endParaRPr sz="1400"/>
          </a:p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1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1093</Words>
  <Application>Microsoft Office PowerPoint</Application>
  <PresentationFormat>와이드스크린</PresentationFormat>
  <Paragraphs>193</Paragraphs>
  <Slides>25</Slides>
  <Notes>25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25</vt:i4>
      </vt:variant>
    </vt:vector>
  </HeadingPairs>
  <TitlesOfParts>
    <vt:vector size="33" baseType="lpstr">
      <vt:lpstr>Pretendard Medium</vt:lpstr>
      <vt:lpstr>Malgun Gothic</vt:lpstr>
      <vt:lpstr>Pretendard ExtraBold</vt:lpstr>
      <vt:lpstr>Calibri</vt:lpstr>
      <vt:lpstr>Pretendard SemiBold</vt:lpstr>
      <vt:lpstr>Arial</vt:lpstr>
      <vt:lpstr>Pretendard Light</vt:lpstr>
      <vt:lpstr>Office 테마</vt:lpstr>
      <vt:lpstr>Lie Detection via Micro Expression</vt:lpstr>
      <vt:lpstr>Contents</vt:lpstr>
      <vt:lpstr>1. Motivation &amp; Goal</vt:lpstr>
      <vt:lpstr>1. Motivation &amp; Goal</vt:lpstr>
      <vt:lpstr>1. Motivation &amp; Goal</vt:lpstr>
      <vt:lpstr>1.  Motivation &amp; Goal</vt:lpstr>
      <vt:lpstr>2. Previous Progress</vt:lpstr>
      <vt:lpstr>2. Previous Progress</vt:lpstr>
      <vt:lpstr>2. Previous Progress</vt:lpstr>
      <vt:lpstr>3. Progress After Interim</vt:lpstr>
      <vt:lpstr>3. Progress After Interim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4. Evaluation</vt:lpstr>
      <vt:lpstr>4. Evaluation</vt:lpstr>
      <vt:lpstr>4. Evaluation</vt:lpstr>
      <vt:lpstr>4. Evaluation</vt:lpstr>
      <vt:lpstr>Thanks for listening</vt:lpstr>
      <vt:lpstr>Reference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조해나[ 학부재학 / 컴퓨터학과 ]</dc:creator>
  <cp:lastModifiedBy>해나 조</cp:lastModifiedBy>
  <cp:revision>86</cp:revision>
  <dcterms:created xsi:type="dcterms:W3CDTF">2025-01-21T01:11:08Z</dcterms:created>
  <dcterms:modified xsi:type="dcterms:W3CDTF">2025-06-05T17:57:05Z</dcterms:modified>
</cp:coreProperties>
</file>